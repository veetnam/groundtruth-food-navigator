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3561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building GroundTruth — the Household Food Navigator — a tool that answers a question nobody's had a straight answer to: is FDPIR or SNAP actually worth more for your household, in real dollars? And once you know that, how do you actually budget around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number sit for a beat. This is the highest food-insecurity rate of any racial or ethnic group the USDA measures — more than double the rate across all U.S. households in the same period.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FDPIR, exactly? A federal program — about 110 agencies serving hundreds of tribes — that delivers USDA food instead of a SNAP card. It works in two layers of choice: USDA makes about a hundred foods available, each tribe's agency chooses which to offer, and each household picks specific items from what's offered every month. GroundTruth models that middle layer — what an agency offers — not yet each household's individual picks. That's a real, stated limitation, not a hidden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saw this year's theme, Native American reservation issues were already on my mind. FDPIR exists specifically to serve tribal communities but has nowhere near the digital tools built for SNAP. This is the highest food-insecurity rate of any group the USDA measures. Oklahoma's eligibility rule means standard assumptions about who qualifies don't even apply here. A well-served population doesn't need a hackathon project. This one does.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not food insecurity in the abstract — it's four specific, solvable gaps. A household can be on FDPIR or SNAP, never both, but nothing tells you which is worth more. The distribution site might be an hour away with no accounting for what that drive costs. Income doesn't arrive like a paycheck. And there's no real numbers anywhere — just program names.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household of four, enrolled in FDPIR through the Choctaw Nation, in Oklahoma, where tribal membership qualifies you without living on a reservation at all. Income arrives twice a year from seasonal work, but rent is due every month. They've never seen what their FDPIR package is worth, or whether SNAP would leave them better off. That's who I built this for. (This household is a composite, not a real family — say so if asked.)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built GroundTruth — the Household Food Navigator. One tool, five sections, all working from the same shared household profile: Calculator, Finances, Recipes, Locator, and About.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pick a program based on whichever is easier to enroll in, budget off a flat monthly average even when your income doesn't arrive that way, and have no idea if your kids qualify for free school meals. With GroundTruth: you see your FDPIR package's real dollar value against a SNAP balance, spread a seasonal lump sum across the months it covers, and it tells you outright that FDPIR or SNAP already qualifies your kids for free school meals through direct certification.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is guesswork. The school-meals finding comes from a USDA policy memo. The income guidelines are the actual 2026-2027 federal figures. The Oklahoma eligibility rule is from USDA's own FDPIR factsheet. Even the gas-cost estimate comes from the Department of Transportation's real national average.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started as a website — the plan from day one, so anyone could open it on a phone or computer with no install and no account. It also means every update reaches everyone at once, without asking anyone to redownload a file. Switch to a live demo here if time allows.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signal on a reservation isn't always reliable, and that's exactly where this matters most. So I also built the option of a fully offline desktop version too, in Python. Same data, same calculations, zero internet required, ever. The website is for reach; the desktop app is for reliability. If time allows, briefly show the desktop app running with no network connection.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it. Break it. Tell me what's missing. (Thank the judges out loud here — deliberately not on the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4A28"/>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731520"/>
          </a:xfrm>
          <a:prstGeom prst="rect">
            <a:avLst/>
          </a:prstGeom>
          <a:noFill/>
          <a:ln/>
        </p:spPr>
        <p:txBody>
          <a:bodyPr wrap="square" lIns="0" tIns="0" rIns="0" bIns="0" rtlCol="0" anchor="t"/>
          <a:lstStyle/>
          <a:p>
            <a:pPr marL="0" indent="0">
              <a:buNone/>
            </a:pPr>
            <a:endParaRPr lang="en-US" sz="1300" dirty="0"/>
          </a:p>
        </p:txBody>
      </p:sp>
      <p:sp>
        <p:nvSpPr>
          <p:cNvPr id="3" name="Text 1"/>
          <p:cNvSpPr txBox="1"/>
          <p:nvPr/>
        </p:nvSpPr>
        <p:spPr>
          <a:xfrm>
            <a:off x="640080" y="1828800"/>
            <a:ext cx="9601200" cy="1463040"/>
          </a:xfrm>
          <a:prstGeom prst="rect">
            <a:avLst/>
          </a:prstGeom>
          <a:noFill/>
          <a:ln/>
        </p:spPr>
        <p:txBody>
          <a:bodyPr wrap="square" lIns="0" tIns="0" rIns="0" bIns="0" rtlCol="0" anchor="ctr"/>
          <a:lstStyle/>
          <a:p>
            <a:pPr marL="0" indent="0">
              <a:buNone/>
            </a:pPr>
            <a:r>
              <a:rPr lang="en-US" sz="7200" dirty="0">
                <a:solidFill>
                  <a:srgbClr val="F6F3EA"/>
                </a:solidFill>
                <a:latin typeface="Georgia" pitchFamily="34" charset="0"/>
                <a:ea typeface="Georgia" pitchFamily="34" charset="-122"/>
                <a:cs typeface="Georgia" pitchFamily="34" charset="-120"/>
              </a:rPr>
              <a:t>GroundTruth</a:t>
            </a:r>
            <a:endParaRPr lang="en-US" sz="7200" dirty="0"/>
          </a:p>
        </p:txBody>
      </p:sp>
      <p:sp>
        <p:nvSpPr>
          <p:cNvPr id="4" name="Text 2"/>
          <p:cNvSpPr txBox="1"/>
          <p:nvPr/>
        </p:nvSpPr>
        <p:spPr>
          <a:xfrm>
            <a:off x="640080" y="3246120"/>
            <a:ext cx="8229600" cy="548640"/>
          </a:xfrm>
          <a:prstGeom prst="rect">
            <a:avLst/>
          </a:prstGeom>
          <a:noFill/>
          <a:ln/>
        </p:spPr>
        <p:txBody>
          <a:bodyPr wrap="square" lIns="0" tIns="0" rIns="0" bIns="0" rtlCol="0" anchor="ctr"/>
          <a:lstStyle/>
          <a:p>
            <a:pPr marL="0" indent="0">
              <a:buNone/>
            </a:pPr>
            <a:r>
              <a:rPr lang="en-US" sz="2400" dirty="0">
                <a:solidFill>
                  <a:srgbClr val="DBE2CA"/>
                </a:solidFill>
                <a:latin typeface="Georgia" pitchFamily="34" charset="0"/>
                <a:ea typeface="Georgia" pitchFamily="34" charset="-122"/>
                <a:cs typeface="Georgia" pitchFamily="34" charset="-120"/>
              </a:rPr>
              <a:t>The Household Food Navigator</a:t>
            </a:r>
            <a:endParaRPr lang="en-US" sz="2400" dirty="0"/>
          </a:p>
        </p:txBody>
      </p:sp>
      <p:sp>
        <p:nvSpPr>
          <p:cNvPr id="5" name="Text 3"/>
          <p:cNvSpPr txBox="1"/>
          <p:nvPr/>
        </p:nvSpPr>
        <p:spPr>
          <a:xfrm>
            <a:off x="640080" y="3977640"/>
            <a:ext cx="8686800" cy="914400"/>
          </a:xfrm>
          <a:prstGeom prst="rect">
            <a:avLst/>
          </a:prstGeom>
          <a:noFill/>
          <a:ln/>
        </p:spPr>
        <p:txBody>
          <a:bodyPr wrap="square" lIns="0" tIns="0" rIns="0" bIns="0" rtlCol="0" anchor="t"/>
          <a:lstStyle/>
          <a:p>
            <a:pPr marL="0" indent="0">
              <a:buNone/>
            </a:pPr>
            <a:r>
              <a:rPr lang="en-US" sz="1800" dirty="0">
                <a:solidFill>
                  <a:srgbClr val="DBE2CA"/>
                </a:solidFill>
                <a:latin typeface="Helvetica" pitchFamily="34" charset="0"/>
                <a:ea typeface="Helvetica" pitchFamily="34" charset="-122"/>
                <a:cs typeface="Helvetica" pitchFamily="34" charset="-120"/>
              </a:rPr>
              <a:t>A real dollar comparison between FDPIR and SNAP — and a budget built around whichever one you're 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914400"/>
          </a:xfrm>
          <a:prstGeom prst="rect">
            <a:avLst/>
          </a:prstGeom>
          <a:noFill/>
          <a:ln/>
        </p:spPr>
        <p:txBody>
          <a:bodyPr wrap="square" lIns="0" tIns="0" rIns="0" bIns="0" rtlCol="0" anchor="ctr"/>
          <a:lstStyle/>
          <a:p>
            <a:pPr marL="0" indent="0">
              <a:buNone/>
            </a:pPr>
            <a:r>
              <a:rPr lang="en-US" sz="3400" dirty="0">
                <a:solidFill>
                  <a:srgbClr val="5B6B3A"/>
                </a:solidFill>
                <a:latin typeface="Georgia" pitchFamily="34" charset="0"/>
                <a:ea typeface="Georgia" pitchFamily="34" charset="-122"/>
                <a:cs typeface="Georgia" pitchFamily="34" charset="-120"/>
              </a:rPr>
              <a:t>Why this matters</a:t>
            </a:r>
            <a:endParaRPr lang="en-US" sz="3400" dirty="0"/>
          </a:p>
        </p:txBody>
      </p:sp>
      <p:sp>
        <p:nvSpPr>
          <p:cNvPr id="3" name="Text 1"/>
          <p:cNvSpPr txBox="1"/>
          <p:nvPr/>
        </p:nvSpPr>
        <p:spPr>
          <a:xfrm>
            <a:off x="640080" y="1554480"/>
            <a:ext cx="4480560" cy="2011680"/>
          </a:xfrm>
          <a:prstGeom prst="rect">
            <a:avLst/>
          </a:prstGeom>
          <a:noFill/>
          <a:ln/>
        </p:spPr>
        <p:txBody>
          <a:bodyPr wrap="square" lIns="0" tIns="0" rIns="0" bIns="0" rtlCol="0" anchor="ctr"/>
          <a:lstStyle/>
          <a:p>
            <a:pPr marL="0" indent="0">
              <a:buNone/>
            </a:pPr>
            <a:r>
              <a:rPr lang="en-US" sz="9200" dirty="0">
                <a:solidFill>
                  <a:srgbClr val="5B6B3A"/>
                </a:solidFill>
                <a:latin typeface="Georgia" pitchFamily="34" charset="0"/>
                <a:ea typeface="Georgia" pitchFamily="34" charset="-122"/>
                <a:cs typeface="Georgia" pitchFamily="34" charset="-120"/>
              </a:rPr>
              <a:t>23.3%</a:t>
            </a:r>
            <a:endParaRPr lang="en-US" sz="9200" dirty="0"/>
          </a:p>
        </p:txBody>
      </p:sp>
      <p:sp>
        <p:nvSpPr>
          <p:cNvPr id="4" name="Text 2"/>
          <p:cNvSpPr txBox="1"/>
          <p:nvPr/>
        </p:nvSpPr>
        <p:spPr>
          <a:xfrm>
            <a:off x="5212080" y="1691640"/>
            <a:ext cx="6309360" cy="1371600"/>
          </a:xfrm>
          <a:prstGeom prst="rect">
            <a:avLst/>
          </a:prstGeom>
          <a:noFill/>
          <a:ln/>
        </p:spPr>
        <p:txBody>
          <a:bodyPr wrap="square" lIns="0" tIns="0" rIns="0" bIns="0" rtlCol="0" anchor="t"/>
          <a:lstStyle/>
          <a:p>
            <a:pPr marL="0" indent="0">
              <a:buNone/>
            </a:pPr>
            <a:r>
              <a:rPr lang="en-US" sz="1700" dirty="0">
                <a:solidFill>
                  <a:srgbClr val="252520"/>
                </a:solidFill>
                <a:latin typeface="Helvetica" pitchFamily="34" charset="0"/>
                <a:ea typeface="Helvetica" pitchFamily="34" charset="-122"/>
                <a:cs typeface="Helvetica" pitchFamily="34" charset="-120"/>
              </a:rPr>
              <a:t>of American Indian and Alaska Native households experienced food insecurity from 2016 to 2021 — more than double the rate across all U.S. households in the same period.</a:t>
            </a:r>
            <a:endParaRPr lang="en-US" sz="1700" dirty="0"/>
          </a:p>
        </p:txBody>
      </p:sp>
      <p:sp>
        <p:nvSpPr>
          <p:cNvPr id="5" name="Text 3"/>
          <p:cNvSpPr txBox="1"/>
          <p:nvPr/>
        </p:nvSpPr>
        <p:spPr>
          <a:xfrm>
            <a:off x="5212080" y="3429000"/>
            <a:ext cx="2103120" cy="320040"/>
          </a:xfrm>
          <a:prstGeom prst="rect">
            <a:avLst/>
          </a:prstGeom>
          <a:noFill/>
          <a:ln/>
        </p:spPr>
        <p:txBody>
          <a:bodyPr wrap="square" lIns="0" tIns="0" rIns="0" bIns="0" rtlCol="0" anchor="ctr"/>
          <a:lstStyle/>
          <a:p>
            <a:pPr marL="0" indent="0">
              <a:buNone/>
            </a:pPr>
            <a:r>
              <a:rPr lang="en-US" sz="1300" dirty="0">
                <a:solidFill>
                  <a:srgbClr val="5C5748"/>
                </a:solidFill>
                <a:latin typeface="Helvetica" pitchFamily="34" charset="0"/>
                <a:ea typeface="Helvetica" pitchFamily="34" charset="-122"/>
                <a:cs typeface="Helvetica" pitchFamily="34" charset="-120"/>
              </a:rPr>
              <a:t>AI/AN households</a:t>
            </a:r>
            <a:endParaRPr lang="en-US" sz="1300" dirty="0"/>
          </a:p>
        </p:txBody>
      </p:sp>
      <p:sp>
        <p:nvSpPr>
          <p:cNvPr id="6" name="Shape 4"/>
          <p:cNvSpPr/>
          <p:nvPr/>
        </p:nvSpPr>
        <p:spPr>
          <a:xfrm>
            <a:off x="7315200" y="3429000"/>
            <a:ext cx="3566160" cy="320040"/>
          </a:xfrm>
          <a:prstGeom prst="rect">
            <a:avLst/>
          </a:prstGeom>
          <a:solidFill>
            <a:srgbClr val="5B6B3A"/>
          </a:solidFill>
          <a:ln/>
        </p:spPr>
        <p:txBody>
          <a:bodyPr/>
          <a:lstStyle/>
          <a:p>
            <a:endParaRPr lang="en-US"/>
          </a:p>
        </p:txBody>
      </p:sp>
      <p:sp>
        <p:nvSpPr>
          <p:cNvPr id="7" name="Text 5"/>
          <p:cNvSpPr txBox="1"/>
          <p:nvPr/>
        </p:nvSpPr>
        <p:spPr>
          <a:xfrm>
            <a:off x="11018520" y="3429000"/>
            <a:ext cx="914400" cy="320040"/>
          </a:xfrm>
          <a:prstGeom prst="rect">
            <a:avLst/>
          </a:prstGeom>
          <a:noFill/>
          <a:ln/>
        </p:spPr>
        <p:txBody>
          <a:bodyPr wrap="square" lIns="0" tIns="0" rIns="0" bIns="0" rtlCol="0" anchor="ctr"/>
          <a:lstStyle/>
          <a:p>
            <a:pPr marL="0" indent="0">
              <a:buNone/>
            </a:pPr>
            <a:r>
              <a:rPr lang="en-US" sz="1400" b="1" dirty="0">
                <a:solidFill>
                  <a:srgbClr val="5B6B3A"/>
                </a:solidFill>
                <a:latin typeface="Helvetica" pitchFamily="34" charset="0"/>
                <a:ea typeface="Helvetica" pitchFamily="34" charset="-122"/>
                <a:cs typeface="Helvetica" pitchFamily="34" charset="-120"/>
              </a:rPr>
              <a:t>23.3%</a:t>
            </a:r>
            <a:endParaRPr lang="en-US" sz="1400" dirty="0"/>
          </a:p>
        </p:txBody>
      </p:sp>
      <p:sp>
        <p:nvSpPr>
          <p:cNvPr id="8" name="Text 6"/>
          <p:cNvSpPr txBox="1"/>
          <p:nvPr/>
        </p:nvSpPr>
        <p:spPr>
          <a:xfrm>
            <a:off x="5212080" y="3931920"/>
            <a:ext cx="2103120" cy="320040"/>
          </a:xfrm>
          <a:prstGeom prst="rect">
            <a:avLst/>
          </a:prstGeom>
          <a:noFill/>
          <a:ln/>
        </p:spPr>
        <p:txBody>
          <a:bodyPr wrap="square" lIns="0" tIns="0" rIns="0" bIns="0" rtlCol="0" anchor="ctr"/>
          <a:lstStyle/>
          <a:p>
            <a:pPr marL="0" indent="0">
              <a:buNone/>
            </a:pPr>
            <a:r>
              <a:rPr lang="en-US" sz="1300" dirty="0">
                <a:solidFill>
                  <a:srgbClr val="5C5748"/>
                </a:solidFill>
                <a:latin typeface="Helvetica" pitchFamily="34" charset="0"/>
                <a:ea typeface="Helvetica" pitchFamily="34" charset="-122"/>
                <a:cs typeface="Helvetica" pitchFamily="34" charset="-120"/>
              </a:rPr>
              <a:t>All U.S. households</a:t>
            </a:r>
            <a:endParaRPr lang="en-US" sz="1300" dirty="0"/>
          </a:p>
        </p:txBody>
      </p:sp>
      <p:sp>
        <p:nvSpPr>
          <p:cNvPr id="9" name="Shape 7"/>
          <p:cNvSpPr/>
          <p:nvPr/>
        </p:nvSpPr>
        <p:spPr>
          <a:xfrm>
            <a:off x="7315200" y="3931920"/>
            <a:ext cx="1698900" cy="320040"/>
          </a:xfrm>
          <a:prstGeom prst="rect">
            <a:avLst/>
          </a:prstGeom>
          <a:solidFill>
            <a:srgbClr val="A4522A"/>
          </a:solidFill>
          <a:ln/>
        </p:spPr>
        <p:txBody>
          <a:bodyPr/>
          <a:lstStyle/>
          <a:p>
            <a:endParaRPr lang="en-US"/>
          </a:p>
        </p:txBody>
      </p:sp>
      <p:sp>
        <p:nvSpPr>
          <p:cNvPr id="10" name="Text 8"/>
          <p:cNvSpPr txBox="1"/>
          <p:nvPr/>
        </p:nvSpPr>
        <p:spPr>
          <a:xfrm>
            <a:off x="9151260" y="3931920"/>
            <a:ext cx="914400" cy="320040"/>
          </a:xfrm>
          <a:prstGeom prst="rect">
            <a:avLst/>
          </a:prstGeom>
          <a:noFill/>
          <a:ln/>
        </p:spPr>
        <p:txBody>
          <a:bodyPr wrap="square" lIns="0" tIns="0" rIns="0" bIns="0" rtlCol="0" anchor="ctr"/>
          <a:lstStyle/>
          <a:p>
            <a:pPr marL="0" indent="0">
              <a:buNone/>
            </a:pPr>
            <a:r>
              <a:rPr lang="en-US" sz="1400" b="1" dirty="0">
                <a:solidFill>
                  <a:srgbClr val="A4522A"/>
                </a:solidFill>
                <a:latin typeface="Helvetica" pitchFamily="34" charset="0"/>
                <a:ea typeface="Helvetica" pitchFamily="34" charset="-122"/>
                <a:cs typeface="Helvetica" pitchFamily="34" charset="-120"/>
              </a:rPr>
              <a:t>11.1%</a:t>
            </a:r>
            <a:endParaRPr lang="en-US" sz="1400" dirty="0"/>
          </a:p>
        </p:txBody>
      </p:sp>
      <p:sp>
        <p:nvSpPr>
          <p:cNvPr id="11" name="Text 9"/>
          <p:cNvSpPr txBox="1"/>
          <p:nvPr/>
        </p:nvSpPr>
        <p:spPr>
          <a:xfrm>
            <a:off x="640080" y="6217920"/>
            <a:ext cx="7315200" cy="365760"/>
          </a:xfrm>
          <a:prstGeom prst="rect">
            <a:avLst/>
          </a:prstGeom>
          <a:noFill/>
          <a:ln/>
        </p:spPr>
        <p:txBody>
          <a:bodyPr wrap="square" lIns="0" tIns="0" rIns="0" bIns="0" rtlCol="0" anchor="t"/>
          <a:lstStyle/>
          <a:p>
            <a:pPr marL="0" indent="0">
              <a:buNone/>
            </a:pPr>
            <a:r>
              <a:rPr lang="en-US" sz="1100" dirty="0">
                <a:solidFill>
                  <a:srgbClr val="5C5748"/>
                </a:solidFill>
                <a:latin typeface="Helvetica" pitchFamily="34" charset="0"/>
                <a:ea typeface="Helvetica" pitchFamily="34" charset="-122"/>
                <a:cs typeface="Helvetica" pitchFamily="34" charset="-120"/>
              </a:rPr>
              <a:t>Source: USDA Economic Research Service, EIB-269</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914400"/>
          </a:xfrm>
          <a:prstGeom prst="rect">
            <a:avLst/>
          </a:prstGeom>
          <a:noFill/>
          <a:ln/>
        </p:spPr>
        <p:txBody>
          <a:bodyPr wrap="square" lIns="0" tIns="0" rIns="0" bIns="0" rtlCol="0" anchor="ctr"/>
          <a:lstStyle/>
          <a:p>
            <a:pPr marL="0" indent="0">
              <a:buNone/>
            </a:pPr>
            <a:r>
              <a:rPr lang="en-US" sz="3400" dirty="0">
                <a:solidFill>
                  <a:srgbClr val="5B6B3A"/>
                </a:solidFill>
                <a:latin typeface="Georgia" pitchFamily="34" charset="0"/>
                <a:ea typeface="Georgia" pitchFamily="34" charset="-122"/>
                <a:cs typeface="Georgia" pitchFamily="34" charset="-120"/>
              </a:rPr>
              <a:t>What FDPIR actually is</a:t>
            </a:r>
            <a:endParaRPr lang="en-US" sz="3400" dirty="0"/>
          </a:p>
        </p:txBody>
      </p:sp>
      <p:sp>
        <p:nvSpPr>
          <p:cNvPr id="3" name="Text 1"/>
          <p:cNvSpPr txBox="1"/>
          <p:nvPr/>
        </p:nvSpPr>
        <p:spPr>
          <a:xfrm>
            <a:off x="640080" y="1371600"/>
            <a:ext cx="10908792" cy="822960"/>
          </a:xfrm>
          <a:prstGeom prst="rect">
            <a:avLst/>
          </a:prstGeom>
          <a:noFill/>
          <a:ln/>
        </p:spPr>
        <p:txBody>
          <a:bodyPr wrap="square" lIns="0" tIns="0" rIns="0" bIns="0" rtlCol="0" anchor="t"/>
          <a:lstStyle/>
          <a:p>
            <a:pPr marL="0" indent="0">
              <a:buNone/>
            </a:pPr>
            <a:r>
              <a:rPr lang="en-US" sz="1600" dirty="0">
                <a:solidFill>
                  <a:srgbClr val="252520"/>
                </a:solidFill>
                <a:latin typeface="Helvetica" pitchFamily="34" charset="0"/>
                <a:ea typeface="Helvetica" pitchFamily="34" charset="-122"/>
                <a:cs typeface="Helvetica" pitchFamily="34" charset="-120"/>
              </a:rPr>
              <a:t>Food Distribution Program on Indian Reservations (FDPIR) is a federal program — about 110 agencies serving hundreds of tribes — that delivers USDA food to income-eligible households instead of a SNAP card. It works in two layers of choice:</a:t>
            </a:r>
            <a:endParaRPr lang="en-US" sz="1600" dirty="0"/>
          </a:p>
        </p:txBody>
      </p:sp>
      <p:sp>
        <p:nvSpPr>
          <p:cNvPr id="4" name="Shape 2"/>
          <p:cNvSpPr/>
          <p:nvPr/>
        </p:nvSpPr>
        <p:spPr>
          <a:xfrm>
            <a:off x="640080" y="2468880"/>
            <a:ext cx="3200400" cy="1737360"/>
          </a:xfrm>
          <a:prstGeom prst="roundRect">
            <a:avLst>
              <a:gd name="adj" fmla="val 4211"/>
            </a:avLst>
          </a:prstGeom>
          <a:solidFill>
            <a:srgbClr val="FFFFFF"/>
          </a:solidFill>
          <a:ln/>
        </p:spPr>
        <p:txBody>
          <a:bodyPr/>
          <a:lstStyle/>
          <a:p>
            <a:endParaRPr lang="en-US"/>
          </a:p>
        </p:txBody>
      </p:sp>
      <p:sp>
        <p:nvSpPr>
          <p:cNvPr id="5" name="Text 3"/>
          <p:cNvSpPr txBox="1"/>
          <p:nvPr/>
        </p:nvSpPr>
        <p:spPr>
          <a:xfrm>
            <a:off x="868680" y="2651760"/>
            <a:ext cx="2743200" cy="457200"/>
          </a:xfrm>
          <a:prstGeom prst="rect">
            <a:avLst/>
          </a:prstGeom>
          <a:noFill/>
          <a:ln/>
        </p:spPr>
        <p:txBody>
          <a:bodyPr wrap="square" lIns="0" tIns="0" rIns="0" bIns="0" rtlCol="0" anchor="ctr"/>
          <a:lstStyle/>
          <a:p>
            <a:pPr marL="0" indent="0">
              <a:buNone/>
            </a:pPr>
            <a:r>
              <a:rPr lang="en-US" sz="1600" b="1" dirty="0">
                <a:solidFill>
                  <a:srgbClr val="5B6B3A"/>
                </a:solidFill>
                <a:latin typeface="Helvetica" pitchFamily="34" charset="0"/>
                <a:ea typeface="Helvetica" pitchFamily="34" charset="-122"/>
                <a:cs typeface="Helvetica" pitchFamily="34" charset="-120"/>
              </a:rPr>
              <a:t>USDA</a:t>
            </a:r>
            <a:endParaRPr lang="en-US" sz="1600" dirty="0"/>
          </a:p>
        </p:txBody>
      </p:sp>
      <p:sp>
        <p:nvSpPr>
          <p:cNvPr id="6" name="Text 4"/>
          <p:cNvSpPr txBox="1"/>
          <p:nvPr/>
        </p:nvSpPr>
        <p:spPr>
          <a:xfrm>
            <a:off x="868680" y="3154680"/>
            <a:ext cx="2743200" cy="822960"/>
          </a:xfrm>
          <a:prstGeom prst="rect">
            <a:avLst/>
          </a:prstGeom>
          <a:noFill/>
          <a:ln/>
        </p:spPr>
        <p:txBody>
          <a:bodyPr wrap="square" lIns="0" tIns="0" rIns="0" bIns="0" rtlCol="0" anchor="ctr"/>
          <a:lstStyle/>
          <a:p>
            <a:pPr marL="0" indent="0">
              <a:buNone/>
            </a:pPr>
            <a:r>
              <a:rPr lang="en-US" sz="1300" dirty="0">
                <a:solidFill>
                  <a:srgbClr val="5C5748"/>
                </a:solidFill>
                <a:latin typeface="Helvetica" pitchFamily="34" charset="0"/>
                <a:ea typeface="Helvetica" pitchFamily="34" charset="-122"/>
                <a:cs typeface="Helvetica" pitchFamily="34" charset="-120"/>
              </a:rPr>
              <a:t>Makes about 100 foods available nationally.</a:t>
            </a:r>
            <a:endParaRPr lang="en-US" sz="1300" dirty="0"/>
          </a:p>
        </p:txBody>
      </p:sp>
      <p:sp>
        <p:nvSpPr>
          <p:cNvPr id="7" name="Shape 5"/>
          <p:cNvSpPr/>
          <p:nvPr/>
        </p:nvSpPr>
        <p:spPr>
          <a:xfrm>
            <a:off x="3913632" y="3200400"/>
            <a:ext cx="356616" cy="274320"/>
          </a:xfrm>
          <a:prstGeom prst="rightArrow">
            <a:avLst/>
          </a:prstGeom>
          <a:solidFill>
            <a:srgbClr val="5B6B3A"/>
          </a:solidFill>
          <a:ln/>
        </p:spPr>
        <p:txBody>
          <a:bodyPr/>
          <a:lstStyle/>
          <a:p>
            <a:endParaRPr lang="en-US"/>
          </a:p>
        </p:txBody>
      </p:sp>
      <p:sp>
        <p:nvSpPr>
          <p:cNvPr id="8" name="Shape 6"/>
          <p:cNvSpPr/>
          <p:nvPr/>
        </p:nvSpPr>
        <p:spPr>
          <a:xfrm>
            <a:off x="4343400" y="2468880"/>
            <a:ext cx="3200400" cy="1737360"/>
          </a:xfrm>
          <a:prstGeom prst="roundRect">
            <a:avLst>
              <a:gd name="adj" fmla="val 4211"/>
            </a:avLst>
          </a:prstGeom>
          <a:solidFill>
            <a:srgbClr val="FFFFFF"/>
          </a:solidFill>
          <a:ln/>
        </p:spPr>
        <p:txBody>
          <a:bodyPr/>
          <a:lstStyle/>
          <a:p>
            <a:endParaRPr lang="en-US"/>
          </a:p>
        </p:txBody>
      </p:sp>
      <p:sp>
        <p:nvSpPr>
          <p:cNvPr id="9" name="Text 7"/>
          <p:cNvSpPr txBox="1"/>
          <p:nvPr/>
        </p:nvSpPr>
        <p:spPr>
          <a:xfrm>
            <a:off x="4572000" y="2651760"/>
            <a:ext cx="2743200" cy="457200"/>
          </a:xfrm>
          <a:prstGeom prst="rect">
            <a:avLst/>
          </a:prstGeom>
          <a:noFill/>
          <a:ln/>
        </p:spPr>
        <p:txBody>
          <a:bodyPr wrap="square" lIns="0" tIns="0" rIns="0" bIns="0" rtlCol="0" anchor="ctr"/>
          <a:lstStyle/>
          <a:p>
            <a:pPr marL="0" indent="0">
              <a:buNone/>
            </a:pPr>
            <a:r>
              <a:rPr lang="en-US" sz="1600" b="1" dirty="0">
                <a:solidFill>
                  <a:srgbClr val="5B6B3A"/>
                </a:solidFill>
                <a:latin typeface="Helvetica" pitchFamily="34" charset="0"/>
                <a:ea typeface="Helvetica" pitchFamily="34" charset="-122"/>
                <a:cs typeface="Helvetica" pitchFamily="34" charset="-120"/>
              </a:rPr>
              <a:t>Your tribe's agency</a:t>
            </a:r>
            <a:endParaRPr lang="en-US" sz="1600" dirty="0"/>
          </a:p>
        </p:txBody>
      </p:sp>
      <p:sp>
        <p:nvSpPr>
          <p:cNvPr id="10" name="Text 8"/>
          <p:cNvSpPr txBox="1"/>
          <p:nvPr/>
        </p:nvSpPr>
        <p:spPr>
          <a:xfrm>
            <a:off x="4572000" y="3154680"/>
            <a:ext cx="2743200" cy="822960"/>
          </a:xfrm>
          <a:prstGeom prst="rect">
            <a:avLst/>
          </a:prstGeom>
          <a:noFill/>
          <a:ln/>
        </p:spPr>
        <p:txBody>
          <a:bodyPr wrap="square" lIns="0" tIns="0" rIns="0" bIns="0" rtlCol="0" anchor="ctr"/>
          <a:lstStyle/>
          <a:p>
            <a:pPr marL="0" indent="0">
              <a:buNone/>
            </a:pPr>
            <a:r>
              <a:rPr lang="en-US" sz="1300" dirty="0">
                <a:solidFill>
                  <a:srgbClr val="5C5748"/>
                </a:solidFill>
                <a:latin typeface="Helvetica" pitchFamily="34" charset="0"/>
                <a:ea typeface="Helvetica" pitchFamily="34" charset="-122"/>
                <a:cs typeface="Helvetica" pitchFamily="34" charset="-120"/>
              </a:rPr>
              <a:t>Chooses which of those to offer, based on storage and preference.</a:t>
            </a:r>
            <a:endParaRPr lang="en-US" sz="1300" dirty="0"/>
          </a:p>
        </p:txBody>
      </p:sp>
      <p:sp>
        <p:nvSpPr>
          <p:cNvPr id="11" name="Shape 9"/>
          <p:cNvSpPr/>
          <p:nvPr/>
        </p:nvSpPr>
        <p:spPr>
          <a:xfrm>
            <a:off x="7616952" y="3200400"/>
            <a:ext cx="356616" cy="274320"/>
          </a:xfrm>
          <a:prstGeom prst="rightArrow">
            <a:avLst/>
          </a:prstGeom>
          <a:solidFill>
            <a:srgbClr val="5B6B3A"/>
          </a:solidFill>
          <a:ln/>
        </p:spPr>
        <p:txBody>
          <a:bodyPr/>
          <a:lstStyle/>
          <a:p>
            <a:endParaRPr lang="en-US"/>
          </a:p>
        </p:txBody>
      </p:sp>
      <p:sp>
        <p:nvSpPr>
          <p:cNvPr id="12" name="Shape 10"/>
          <p:cNvSpPr/>
          <p:nvPr/>
        </p:nvSpPr>
        <p:spPr>
          <a:xfrm>
            <a:off x="8046720" y="2468880"/>
            <a:ext cx="3200400" cy="1737360"/>
          </a:xfrm>
          <a:prstGeom prst="roundRect">
            <a:avLst>
              <a:gd name="adj" fmla="val 4211"/>
            </a:avLst>
          </a:prstGeom>
          <a:solidFill>
            <a:srgbClr val="EEF1E6"/>
          </a:solidFill>
          <a:ln/>
        </p:spPr>
        <p:txBody>
          <a:bodyPr/>
          <a:lstStyle/>
          <a:p>
            <a:endParaRPr lang="en-US"/>
          </a:p>
        </p:txBody>
      </p:sp>
      <p:sp>
        <p:nvSpPr>
          <p:cNvPr id="13" name="Text 11"/>
          <p:cNvSpPr txBox="1"/>
          <p:nvPr/>
        </p:nvSpPr>
        <p:spPr>
          <a:xfrm>
            <a:off x="8275320" y="2651760"/>
            <a:ext cx="2743200" cy="457200"/>
          </a:xfrm>
          <a:prstGeom prst="rect">
            <a:avLst/>
          </a:prstGeom>
          <a:noFill/>
          <a:ln/>
        </p:spPr>
        <p:txBody>
          <a:bodyPr wrap="square" lIns="0" tIns="0" rIns="0" bIns="0" rtlCol="0" anchor="ctr"/>
          <a:lstStyle/>
          <a:p>
            <a:pPr marL="0" indent="0">
              <a:buNone/>
            </a:pPr>
            <a:r>
              <a:rPr lang="en-US" sz="1600" b="1" dirty="0">
                <a:solidFill>
                  <a:srgbClr val="5B6B3A"/>
                </a:solidFill>
                <a:latin typeface="Helvetica" pitchFamily="34" charset="0"/>
                <a:ea typeface="Helvetica" pitchFamily="34" charset="-122"/>
                <a:cs typeface="Helvetica" pitchFamily="34" charset="-120"/>
              </a:rPr>
              <a:t>Your household</a:t>
            </a:r>
            <a:endParaRPr lang="en-US" sz="1600" dirty="0"/>
          </a:p>
        </p:txBody>
      </p:sp>
      <p:sp>
        <p:nvSpPr>
          <p:cNvPr id="14" name="Text 12"/>
          <p:cNvSpPr txBox="1"/>
          <p:nvPr/>
        </p:nvSpPr>
        <p:spPr>
          <a:xfrm>
            <a:off x="8275320" y="3154680"/>
            <a:ext cx="2743200" cy="822960"/>
          </a:xfrm>
          <a:prstGeom prst="rect">
            <a:avLst/>
          </a:prstGeom>
          <a:noFill/>
          <a:ln/>
        </p:spPr>
        <p:txBody>
          <a:bodyPr wrap="square" lIns="0" tIns="0" rIns="0" bIns="0" rtlCol="0" anchor="ctr"/>
          <a:lstStyle/>
          <a:p>
            <a:pPr marL="0" indent="0">
              <a:buNone/>
            </a:pPr>
            <a:r>
              <a:rPr lang="en-US" sz="1300" dirty="0">
                <a:solidFill>
                  <a:srgbClr val="5C5748"/>
                </a:solidFill>
                <a:latin typeface="Helvetica" pitchFamily="34" charset="0"/>
                <a:ea typeface="Helvetica" pitchFamily="34" charset="-122"/>
                <a:cs typeface="Helvetica" pitchFamily="34" charset="-120"/>
              </a:rPr>
              <a:t>Selects specific items and amounts from what's offered each month.</a:t>
            </a:r>
            <a:endParaRPr lang="en-US" sz="1300" dirty="0"/>
          </a:p>
        </p:txBody>
      </p:sp>
      <p:sp>
        <p:nvSpPr>
          <p:cNvPr id="15" name="Text 13"/>
          <p:cNvSpPr txBox="1"/>
          <p:nvPr/>
        </p:nvSpPr>
        <p:spPr>
          <a:xfrm>
            <a:off x="640080" y="4526280"/>
            <a:ext cx="10908792" cy="822960"/>
          </a:xfrm>
          <a:prstGeom prst="rect">
            <a:avLst/>
          </a:prstGeom>
          <a:noFill/>
          <a:ln/>
        </p:spPr>
        <p:txBody>
          <a:bodyPr wrap="square" lIns="0" tIns="0" rIns="0" bIns="0" rtlCol="0" anchor="t"/>
          <a:lstStyle/>
          <a:p>
            <a:pPr marL="0" indent="0">
              <a:buNone/>
            </a:pPr>
            <a:r>
              <a:rPr lang="en-US" sz="1500" dirty="0">
                <a:solidFill>
                  <a:srgbClr val="A4522A"/>
                </a:solidFill>
                <a:latin typeface="Helvetica" pitchFamily="34" charset="0"/>
                <a:ea typeface="Helvetica" pitchFamily="34" charset="-122"/>
                <a:cs typeface="Helvetica" pitchFamily="34" charset="-120"/>
              </a:rPr>
              <a:t>GroundTruth models the middle step, what an agency offers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E6"/>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914400"/>
          </a:xfrm>
          <a:prstGeom prst="rect">
            <a:avLst/>
          </a:prstGeom>
          <a:noFill/>
          <a:ln/>
        </p:spPr>
        <p:txBody>
          <a:bodyPr wrap="square" lIns="0" tIns="0" rIns="0" bIns="0" rtlCol="0" anchor="ctr"/>
          <a:lstStyle/>
          <a:p>
            <a:pPr marL="0" indent="0">
              <a:buNone/>
            </a:pPr>
            <a:r>
              <a:rPr lang="en-US" sz="3400" dirty="0">
                <a:solidFill>
                  <a:srgbClr val="5B6B3A"/>
                </a:solidFill>
                <a:latin typeface="Georgia" pitchFamily="34" charset="0"/>
                <a:ea typeface="Georgia" pitchFamily="34" charset="-122"/>
                <a:cs typeface="Georgia" pitchFamily="34" charset="-120"/>
              </a:rPr>
              <a:t>Why focus here</a:t>
            </a:r>
            <a:endParaRPr lang="en-US" sz="3400" dirty="0"/>
          </a:p>
        </p:txBody>
      </p:sp>
      <p:sp>
        <p:nvSpPr>
          <p:cNvPr id="3" name="Text 1"/>
          <p:cNvSpPr txBox="1"/>
          <p:nvPr/>
        </p:nvSpPr>
        <p:spPr>
          <a:xfrm>
            <a:off x="640080" y="1371600"/>
            <a:ext cx="10908792" cy="1097280"/>
          </a:xfrm>
          <a:prstGeom prst="rect">
            <a:avLst/>
          </a:prstGeom>
          <a:noFill/>
          <a:ln/>
        </p:spPr>
        <p:txBody>
          <a:bodyPr wrap="square" lIns="0" tIns="0" rIns="0" bIns="0" rtlCol="0" anchor="t"/>
          <a:lstStyle/>
          <a:p>
            <a:pPr marL="0" indent="0">
              <a:buNone/>
            </a:pPr>
            <a:r>
              <a:rPr lang="en-US" sz="1600" dirty="0">
                <a:solidFill>
                  <a:srgbClr val="252520"/>
                </a:solidFill>
                <a:latin typeface="Helvetica" pitchFamily="34" charset="0"/>
                <a:ea typeface="Helvetica" pitchFamily="34" charset="-122"/>
                <a:cs typeface="Helvetica" pitchFamily="34" charset="-120"/>
              </a:rPr>
              <a:t>When I saw this year's theme, Native American reservation issues were already on my mind — I've long been drawn to struggles these communities face that rarely get built for. Food access and nutrition stood out as one of the most solvable.</a:t>
            </a:r>
            <a:endParaRPr lang="en-US" sz="1600" dirty="0"/>
          </a:p>
        </p:txBody>
      </p:sp>
      <p:sp>
        <p:nvSpPr>
          <p:cNvPr id="4" name="Text 2"/>
          <p:cNvSpPr txBox="1"/>
          <p:nvPr/>
        </p:nvSpPr>
        <p:spPr>
          <a:xfrm>
            <a:off x="640080" y="2651760"/>
            <a:ext cx="10908792" cy="23774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252520"/>
                </a:solidFill>
                <a:latin typeface="Helvetica" pitchFamily="34" charset="0"/>
                <a:ea typeface="Helvetica" pitchFamily="34" charset="-122"/>
                <a:cs typeface="Helvetica" pitchFamily="34" charset="-120"/>
              </a:rPr>
              <a:t>FDPIR exists specifically to serve tribal communities — but has nowhere near the digital tools built for SNAP. No comparison calculators, no budgeting apps, nothing.</a:t>
            </a:r>
          </a:p>
          <a:p>
            <a:pPr marL="342900" indent="-342900">
              <a:spcAft>
                <a:spcPts val="1400"/>
              </a:spcAft>
              <a:buSzPct val="100000"/>
              <a:buChar char="•"/>
            </a:pPr>
            <a:r>
              <a:rPr lang="en-US" sz="1600" dirty="0">
                <a:solidFill>
                  <a:srgbClr val="252520"/>
                </a:solidFill>
                <a:latin typeface="Helvetica" pitchFamily="34" charset="0"/>
                <a:ea typeface="Helvetica" pitchFamily="34" charset="-122"/>
                <a:cs typeface="Helvetica" pitchFamily="34" charset="-120"/>
              </a:rPr>
              <a:t>This isn't a marginal gap — it's the highest food-insecurity rate of any group</a:t>
            </a:r>
            <a:endParaRPr lang="en-US" sz="1600" dirty="0"/>
          </a:p>
        </p:txBody>
      </p:sp>
      <p:sp>
        <p:nvSpPr>
          <p:cNvPr id="5" name="Text 3"/>
          <p:cNvSpPr txBox="1"/>
          <p:nvPr/>
        </p:nvSpPr>
        <p:spPr>
          <a:xfrm>
            <a:off x="640080" y="5303520"/>
            <a:ext cx="10908792" cy="548640"/>
          </a:xfrm>
          <a:prstGeom prst="rect">
            <a:avLst/>
          </a:prstGeom>
          <a:noFill/>
          <a:ln/>
        </p:spPr>
        <p:txBody>
          <a:bodyPr wrap="square" lIns="0" tIns="0" rIns="0" bIns="0" rtlCol="0" anchor="t"/>
          <a:lstStyle/>
          <a:p>
            <a:pPr marL="0" indent="0">
              <a:buNone/>
            </a:pPr>
            <a:r>
              <a:rPr lang="en-US" sz="1800" b="1" dirty="0">
                <a:solidFill>
                  <a:srgbClr val="5B6B3A"/>
                </a:solidFill>
                <a:latin typeface="Helvetica" pitchFamily="34" charset="0"/>
                <a:ea typeface="Helvetica" pitchFamily="34" charset="-122"/>
                <a:cs typeface="Helvetica" pitchFamily="34" charset="-120"/>
              </a:rPr>
              <a:t>A well-served population doesn't need a hackathon project. This one does.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914400"/>
          </a:xfrm>
          <a:prstGeom prst="rect">
            <a:avLst/>
          </a:prstGeom>
          <a:noFill/>
          <a:ln/>
        </p:spPr>
        <p:txBody>
          <a:bodyPr wrap="square" lIns="0" tIns="0" rIns="0" bIns="0" rtlCol="0" anchor="ctr"/>
          <a:lstStyle/>
          <a:p>
            <a:pPr marL="0" indent="0">
              <a:buNone/>
            </a:pPr>
            <a:r>
              <a:rPr lang="en-US" sz="3400" dirty="0">
                <a:solidFill>
                  <a:srgbClr val="5B6B3A"/>
                </a:solidFill>
                <a:latin typeface="Georgia" pitchFamily="34" charset="0"/>
                <a:ea typeface="Georgia" pitchFamily="34" charset="-122"/>
                <a:cs typeface="Georgia" pitchFamily="34" charset="-120"/>
              </a:rPr>
              <a:t>Four things nobody helps you figure out</a:t>
            </a:r>
            <a:endParaRPr lang="en-US" sz="3400" dirty="0"/>
          </a:p>
        </p:txBody>
      </p:sp>
      <p:sp>
        <p:nvSpPr>
          <p:cNvPr id="3" name="Shape 1"/>
          <p:cNvSpPr/>
          <p:nvPr/>
        </p:nvSpPr>
        <p:spPr>
          <a:xfrm>
            <a:off x="640080" y="1463040"/>
            <a:ext cx="5271516" cy="1737360"/>
          </a:xfrm>
          <a:prstGeom prst="roundRect">
            <a:avLst>
              <a:gd name="adj" fmla="val 4211"/>
            </a:avLst>
          </a:prstGeom>
          <a:solidFill>
            <a:srgbClr val="FFFFFF"/>
          </a:solidFill>
          <a:ln/>
        </p:spPr>
        <p:txBody>
          <a:bodyPr/>
          <a:lstStyle/>
          <a:p>
            <a:endParaRPr lang="en-US"/>
          </a:p>
        </p:txBody>
      </p:sp>
      <p:sp>
        <p:nvSpPr>
          <p:cNvPr id="4" name="Text 2"/>
          <p:cNvSpPr txBox="1"/>
          <p:nvPr/>
        </p:nvSpPr>
        <p:spPr>
          <a:xfrm>
            <a:off x="914400" y="1691640"/>
            <a:ext cx="4722876" cy="548640"/>
          </a:xfrm>
          <a:prstGeom prst="rect">
            <a:avLst/>
          </a:prstGeom>
          <a:noFill/>
          <a:ln/>
        </p:spPr>
        <p:txBody>
          <a:bodyPr wrap="square" lIns="0" tIns="0" rIns="0" bIns="0" rtlCol="0" anchor="ctr"/>
          <a:lstStyle/>
          <a:p>
            <a:pPr marL="0" indent="0">
              <a:buNone/>
            </a:pPr>
            <a:r>
              <a:rPr lang="en-US" sz="1700" b="1" dirty="0">
                <a:solidFill>
                  <a:srgbClr val="252520"/>
                </a:solidFill>
                <a:latin typeface="Helvetica" pitchFamily="34" charset="0"/>
                <a:ea typeface="Helvetica" pitchFamily="34" charset="-122"/>
                <a:cs typeface="Helvetica" pitchFamily="34" charset="-120"/>
              </a:rPr>
              <a:t>FDPIR or SNAP — never both</a:t>
            </a:r>
            <a:endParaRPr lang="en-US" sz="1700" dirty="0"/>
          </a:p>
        </p:txBody>
      </p:sp>
      <p:sp>
        <p:nvSpPr>
          <p:cNvPr id="5" name="Text 3"/>
          <p:cNvSpPr txBox="1"/>
          <p:nvPr/>
        </p:nvSpPr>
        <p:spPr>
          <a:xfrm>
            <a:off x="914400" y="2240280"/>
            <a:ext cx="4722876" cy="822960"/>
          </a:xfrm>
          <a:prstGeom prst="rect">
            <a:avLst/>
          </a:prstGeom>
          <a:noFill/>
          <a:ln/>
        </p:spPr>
        <p:txBody>
          <a:bodyPr wrap="square" lIns="0" tIns="0" rIns="0" bIns="0" rtlCol="0" anchor="ctr"/>
          <a:lstStyle/>
          <a:p>
            <a:pPr marL="0" indent="0">
              <a:buNone/>
            </a:pPr>
            <a:r>
              <a:rPr lang="en-US" sz="1300" dirty="0">
                <a:solidFill>
                  <a:srgbClr val="5C5748"/>
                </a:solidFill>
                <a:latin typeface="Helvetica" pitchFamily="34" charset="0"/>
                <a:ea typeface="Helvetica" pitchFamily="34" charset="-122"/>
                <a:cs typeface="Helvetica" pitchFamily="34" charset="-120"/>
              </a:rPr>
              <a:t>Nothing shows which one is actually worth more for your household.</a:t>
            </a:r>
            <a:endParaRPr lang="en-US" sz="1300" dirty="0"/>
          </a:p>
        </p:txBody>
      </p:sp>
      <p:sp>
        <p:nvSpPr>
          <p:cNvPr id="6" name="Shape 4"/>
          <p:cNvSpPr/>
          <p:nvPr/>
        </p:nvSpPr>
        <p:spPr>
          <a:xfrm>
            <a:off x="6277356" y="1463040"/>
            <a:ext cx="5271516" cy="1737360"/>
          </a:xfrm>
          <a:prstGeom prst="roundRect">
            <a:avLst>
              <a:gd name="adj" fmla="val 4211"/>
            </a:avLst>
          </a:prstGeom>
          <a:solidFill>
            <a:srgbClr val="FFFFFF"/>
          </a:solidFill>
          <a:ln/>
        </p:spPr>
        <p:txBody>
          <a:bodyPr/>
          <a:lstStyle/>
          <a:p>
            <a:endParaRPr lang="en-US"/>
          </a:p>
        </p:txBody>
      </p:sp>
      <p:sp>
        <p:nvSpPr>
          <p:cNvPr id="7" name="Text 5"/>
          <p:cNvSpPr txBox="1"/>
          <p:nvPr/>
        </p:nvSpPr>
        <p:spPr>
          <a:xfrm>
            <a:off x="6551676" y="1691640"/>
            <a:ext cx="4722876" cy="548640"/>
          </a:xfrm>
          <a:prstGeom prst="rect">
            <a:avLst/>
          </a:prstGeom>
          <a:noFill/>
          <a:ln/>
        </p:spPr>
        <p:txBody>
          <a:bodyPr wrap="square" lIns="0" tIns="0" rIns="0" bIns="0" rtlCol="0" anchor="ctr"/>
          <a:lstStyle/>
          <a:p>
            <a:pPr marL="0" indent="0">
              <a:buNone/>
            </a:pPr>
            <a:r>
              <a:rPr lang="en-US" sz="1700" b="1" dirty="0">
                <a:solidFill>
                  <a:srgbClr val="252520"/>
                </a:solidFill>
                <a:latin typeface="Helvetica" pitchFamily="34" charset="0"/>
                <a:ea typeface="Helvetica" pitchFamily="34" charset="-122"/>
                <a:cs typeface="Helvetica" pitchFamily="34" charset="-120"/>
              </a:rPr>
              <a:t>The distribution site can be an hour away</a:t>
            </a:r>
            <a:endParaRPr lang="en-US" sz="1700" dirty="0"/>
          </a:p>
        </p:txBody>
      </p:sp>
      <p:sp>
        <p:nvSpPr>
          <p:cNvPr id="8" name="Text 6"/>
          <p:cNvSpPr txBox="1"/>
          <p:nvPr/>
        </p:nvSpPr>
        <p:spPr>
          <a:xfrm>
            <a:off x="6551676" y="2240280"/>
            <a:ext cx="4722876" cy="822960"/>
          </a:xfrm>
          <a:prstGeom prst="rect">
            <a:avLst/>
          </a:prstGeom>
          <a:noFill/>
          <a:ln/>
        </p:spPr>
        <p:txBody>
          <a:bodyPr wrap="square" lIns="0" tIns="0" rIns="0" bIns="0" rtlCol="0" anchor="ctr"/>
          <a:lstStyle/>
          <a:p>
            <a:pPr marL="0" indent="0">
              <a:buNone/>
            </a:pPr>
            <a:r>
              <a:rPr lang="en-US" sz="1300" dirty="0">
                <a:solidFill>
                  <a:srgbClr val="5C5748"/>
                </a:solidFill>
                <a:latin typeface="Helvetica" pitchFamily="34" charset="0"/>
                <a:ea typeface="Helvetica" pitchFamily="34" charset="-122"/>
                <a:cs typeface="Helvetica" pitchFamily="34" charset="-120"/>
              </a:rPr>
              <a:t>Nobody accounts for what that drive actually costs.</a:t>
            </a:r>
            <a:endParaRPr lang="en-US" sz="1300" dirty="0"/>
          </a:p>
        </p:txBody>
      </p:sp>
      <p:sp>
        <p:nvSpPr>
          <p:cNvPr id="9" name="Shape 7"/>
          <p:cNvSpPr/>
          <p:nvPr/>
        </p:nvSpPr>
        <p:spPr>
          <a:xfrm>
            <a:off x="640080" y="3520440"/>
            <a:ext cx="5271516" cy="1737360"/>
          </a:xfrm>
          <a:prstGeom prst="roundRect">
            <a:avLst>
              <a:gd name="adj" fmla="val 4211"/>
            </a:avLst>
          </a:prstGeom>
          <a:solidFill>
            <a:srgbClr val="FFFFFF"/>
          </a:solidFill>
          <a:ln/>
        </p:spPr>
        <p:txBody>
          <a:bodyPr/>
          <a:lstStyle/>
          <a:p>
            <a:endParaRPr lang="en-US"/>
          </a:p>
        </p:txBody>
      </p:sp>
      <p:sp>
        <p:nvSpPr>
          <p:cNvPr id="10" name="Text 8"/>
          <p:cNvSpPr txBox="1"/>
          <p:nvPr/>
        </p:nvSpPr>
        <p:spPr>
          <a:xfrm>
            <a:off x="914400" y="3749040"/>
            <a:ext cx="4722876" cy="548640"/>
          </a:xfrm>
          <a:prstGeom prst="rect">
            <a:avLst/>
          </a:prstGeom>
          <a:noFill/>
          <a:ln/>
        </p:spPr>
        <p:txBody>
          <a:bodyPr wrap="square" lIns="0" tIns="0" rIns="0" bIns="0" rtlCol="0" anchor="ctr"/>
          <a:lstStyle/>
          <a:p>
            <a:pPr marL="0" indent="0">
              <a:buNone/>
            </a:pPr>
            <a:r>
              <a:rPr lang="en-US" sz="1700" b="1" dirty="0">
                <a:solidFill>
                  <a:srgbClr val="252520"/>
                </a:solidFill>
                <a:latin typeface="Helvetica" pitchFamily="34" charset="0"/>
                <a:ea typeface="Helvetica" pitchFamily="34" charset="-122"/>
                <a:cs typeface="Helvetica" pitchFamily="34" charset="-120"/>
              </a:rPr>
              <a:t>Income doesn't arrive monthly</a:t>
            </a:r>
            <a:endParaRPr lang="en-US" sz="1700" dirty="0"/>
          </a:p>
        </p:txBody>
      </p:sp>
      <p:sp>
        <p:nvSpPr>
          <p:cNvPr id="11" name="Text 9"/>
          <p:cNvSpPr txBox="1"/>
          <p:nvPr/>
        </p:nvSpPr>
        <p:spPr>
          <a:xfrm>
            <a:off x="914400" y="4297680"/>
            <a:ext cx="4722876" cy="822960"/>
          </a:xfrm>
          <a:prstGeom prst="rect">
            <a:avLst/>
          </a:prstGeom>
          <a:noFill/>
          <a:ln/>
        </p:spPr>
        <p:txBody>
          <a:bodyPr wrap="square" lIns="0" tIns="0" rIns="0" bIns="0" rtlCol="0" anchor="ctr"/>
          <a:lstStyle/>
          <a:p>
            <a:pPr marL="0" indent="0">
              <a:buNone/>
            </a:pPr>
            <a:r>
              <a:rPr lang="en-US" sz="1300" dirty="0">
                <a:solidFill>
                  <a:srgbClr val="5C5748"/>
                </a:solidFill>
                <a:latin typeface="Helvetica" pitchFamily="34" charset="0"/>
                <a:ea typeface="Helvetica" pitchFamily="34" charset="-122"/>
                <a:cs typeface="Helvetica" pitchFamily="34" charset="-120"/>
              </a:rPr>
              <a:t>Per-capita payments and seasonal work don't fit an app built for steady paychecks.</a:t>
            </a:r>
            <a:endParaRPr lang="en-US" sz="1300" dirty="0"/>
          </a:p>
        </p:txBody>
      </p:sp>
      <p:sp>
        <p:nvSpPr>
          <p:cNvPr id="12" name="Shape 10"/>
          <p:cNvSpPr/>
          <p:nvPr/>
        </p:nvSpPr>
        <p:spPr>
          <a:xfrm>
            <a:off x="6277356" y="3520440"/>
            <a:ext cx="5271516" cy="1737360"/>
          </a:xfrm>
          <a:prstGeom prst="roundRect">
            <a:avLst>
              <a:gd name="adj" fmla="val 4211"/>
            </a:avLst>
          </a:prstGeom>
          <a:solidFill>
            <a:srgbClr val="FFFFFF"/>
          </a:solidFill>
          <a:ln/>
        </p:spPr>
        <p:txBody>
          <a:bodyPr/>
          <a:lstStyle/>
          <a:p>
            <a:endParaRPr lang="en-US"/>
          </a:p>
        </p:txBody>
      </p:sp>
      <p:sp>
        <p:nvSpPr>
          <p:cNvPr id="13" name="Text 11"/>
          <p:cNvSpPr txBox="1"/>
          <p:nvPr/>
        </p:nvSpPr>
        <p:spPr>
          <a:xfrm>
            <a:off x="6551676" y="3749040"/>
            <a:ext cx="4722876" cy="548640"/>
          </a:xfrm>
          <a:prstGeom prst="rect">
            <a:avLst/>
          </a:prstGeom>
          <a:noFill/>
          <a:ln/>
        </p:spPr>
        <p:txBody>
          <a:bodyPr wrap="square" lIns="0" tIns="0" rIns="0" bIns="0" rtlCol="0" anchor="ctr"/>
          <a:lstStyle/>
          <a:p>
            <a:pPr marL="0" indent="0">
              <a:buNone/>
            </a:pPr>
            <a:r>
              <a:rPr lang="en-US" sz="1700" b="1" dirty="0">
                <a:solidFill>
                  <a:srgbClr val="252520"/>
                </a:solidFill>
                <a:latin typeface="Helvetica" pitchFamily="34" charset="0"/>
                <a:ea typeface="Helvetica" pitchFamily="34" charset="-122"/>
                <a:cs typeface="Helvetica" pitchFamily="34" charset="-120"/>
              </a:rPr>
              <a:t>No real numbers, anywhere</a:t>
            </a:r>
            <a:endParaRPr lang="en-US" sz="1700" dirty="0"/>
          </a:p>
        </p:txBody>
      </p:sp>
      <p:sp>
        <p:nvSpPr>
          <p:cNvPr id="14" name="Text 12"/>
          <p:cNvSpPr txBox="1"/>
          <p:nvPr/>
        </p:nvSpPr>
        <p:spPr>
          <a:xfrm>
            <a:off x="6551676" y="4297680"/>
            <a:ext cx="4722876" cy="822960"/>
          </a:xfrm>
          <a:prstGeom prst="rect">
            <a:avLst/>
          </a:prstGeom>
          <a:noFill/>
          <a:ln/>
        </p:spPr>
        <p:txBody>
          <a:bodyPr wrap="square" lIns="0" tIns="0" rIns="0" bIns="0" rtlCol="0" anchor="ctr"/>
          <a:lstStyle/>
          <a:p>
            <a:pPr marL="0" indent="0">
              <a:buNone/>
            </a:pPr>
            <a:r>
              <a:rPr lang="en-US" sz="1300" dirty="0">
                <a:solidFill>
                  <a:srgbClr val="5C5748"/>
                </a:solidFill>
                <a:latin typeface="Helvetica" pitchFamily="34" charset="0"/>
                <a:ea typeface="Helvetica" pitchFamily="34" charset="-122"/>
                <a:cs typeface="Helvetica" pitchFamily="34" charset="-120"/>
              </a:rPr>
              <a:t>Just program names — never what's in the box, or what it's worth.</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E6"/>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914400"/>
          </a:xfrm>
          <a:prstGeom prst="rect">
            <a:avLst/>
          </a:prstGeom>
          <a:noFill/>
          <a:ln/>
        </p:spPr>
        <p:txBody>
          <a:bodyPr wrap="square" lIns="0" tIns="0" rIns="0" bIns="0" rtlCol="0" anchor="ctr"/>
          <a:lstStyle/>
          <a:p>
            <a:pPr marL="0" indent="0">
              <a:buNone/>
            </a:pPr>
            <a:r>
              <a:rPr lang="en-US" sz="3400" dirty="0">
                <a:solidFill>
                  <a:srgbClr val="5B6B3A"/>
                </a:solidFill>
                <a:latin typeface="Georgia" pitchFamily="34" charset="0"/>
                <a:ea typeface="Georgia" pitchFamily="34" charset="-122"/>
                <a:cs typeface="Georgia" pitchFamily="34" charset="-120"/>
              </a:rPr>
              <a:t>Picture a household of four</a:t>
            </a:r>
            <a:endParaRPr lang="en-US" sz="3400" dirty="0"/>
          </a:p>
        </p:txBody>
      </p:sp>
      <p:sp>
        <p:nvSpPr>
          <p:cNvPr id="3" name="Text 1"/>
          <p:cNvSpPr txBox="1"/>
          <p:nvPr/>
        </p:nvSpPr>
        <p:spPr>
          <a:xfrm>
            <a:off x="640080" y="2103120"/>
            <a:ext cx="10908792" cy="3291840"/>
          </a:xfrm>
          <a:prstGeom prst="rect">
            <a:avLst/>
          </a:prstGeom>
          <a:noFill/>
          <a:ln/>
        </p:spPr>
        <p:txBody>
          <a:bodyPr wrap="square" lIns="0" tIns="0" rIns="0" bIns="0" rtlCol="0" anchor="t"/>
          <a:lstStyle/>
          <a:p>
            <a:pPr marL="342900" indent="-342900">
              <a:spcAft>
                <a:spcPts val="3200"/>
              </a:spcAft>
              <a:buSzPct val="100000"/>
              <a:buChar char="•"/>
            </a:pPr>
            <a:r>
              <a:rPr lang="en-US" sz="1900" dirty="0">
                <a:solidFill>
                  <a:srgbClr val="252520"/>
                </a:solidFill>
                <a:latin typeface="Helvetica" pitchFamily="34" charset="0"/>
                <a:ea typeface="Helvetica" pitchFamily="34" charset="-122"/>
                <a:cs typeface="Helvetica" pitchFamily="34" charset="-120"/>
              </a:rPr>
              <a:t>Enrolled in FDPIR through the Cherokee Reservation in North Carolina</a:t>
            </a:r>
          </a:p>
          <a:p>
            <a:pPr marL="342900" indent="-342900">
              <a:spcAft>
                <a:spcPts val="3200"/>
              </a:spcAft>
              <a:buSzPct val="100000"/>
              <a:buChar char="•"/>
            </a:pPr>
            <a:r>
              <a:rPr lang="en-US" sz="1900" dirty="0">
                <a:solidFill>
                  <a:srgbClr val="252520"/>
                </a:solidFill>
                <a:latin typeface="Helvetica" pitchFamily="34" charset="0"/>
                <a:ea typeface="Helvetica" pitchFamily="34" charset="-122"/>
                <a:cs typeface="Helvetica" pitchFamily="34" charset="-120"/>
              </a:rPr>
              <a:t>Income arrives twice a year, from seasonal work. Rent is due every month regardless.</a:t>
            </a:r>
            <a:endParaRPr lang="en-US" sz="1900" dirty="0"/>
          </a:p>
          <a:p>
            <a:pPr marL="342900" indent="-342900">
              <a:spcAft>
                <a:spcPts val="3200"/>
              </a:spcAft>
              <a:buSzPct val="100000"/>
              <a:buChar char="•"/>
            </a:pPr>
            <a:r>
              <a:rPr lang="en-US" sz="1900" dirty="0">
                <a:solidFill>
                  <a:srgbClr val="252520"/>
                </a:solidFill>
                <a:latin typeface="Helvetica" pitchFamily="34" charset="0"/>
                <a:ea typeface="Helvetica" pitchFamily="34" charset="-122"/>
                <a:cs typeface="Helvetica" pitchFamily="34" charset="-120"/>
              </a:rPr>
              <a:t>They've never seen what their FDPIR package is actually worth, or whether switching to SNAP would leave them better off.</a:t>
            </a:r>
            <a:endParaRPr lang="en-US" sz="1900" dirty="0"/>
          </a:p>
        </p:txBody>
      </p:sp>
      <p:sp>
        <p:nvSpPr>
          <p:cNvPr id="4" name="Text 2"/>
          <p:cNvSpPr txBox="1"/>
          <p:nvPr/>
        </p:nvSpPr>
        <p:spPr>
          <a:xfrm>
            <a:off x="640080" y="5852160"/>
            <a:ext cx="10908792" cy="457200"/>
          </a:xfrm>
          <a:prstGeom prst="rect">
            <a:avLst/>
          </a:prstGeom>
          <a:noFill/>
          <a:ln/>
        </p:spPr>
        <p:txBody>
          <a:bodyPr wrap="square" lIns="0" tIns="0" rIns="0" bIns="0" rtlCol="0" anchor="t"/>
          <a:lstStyle/>
          <a:p>
            <a:pPr marL="0" indent="0">
              <a:buNone/>
            </a:pPr>
            <a:r>
              <a:rPr lang="en-US" sz="1400" dirty="0">
                <a:solidFill>
                  <a:srgbClr val="5C5748"/>
                </a:solidFill>
                <a:latin typeface="Helvetica" pitchFamily="34" charset="0"/>
                <a:ea typeface="Helvetica" pitchFamily="34" charset="-122"/>
                <a:cs typeface="Helvetica" pitchFamily="34" charset="-120"/>
              </a:rPr>
              <a:t>This is the household the Navigator is built for — not a hypothetical edge case.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F4A28"/>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914400"/>
          </a:xfrm>
          <a:prstGeom prst="rect">
            <a:avLst/>
          </a:prstGeom>
          <a:noFill/>
          <a:ln/>
        </p:spPr>
        <p:txBody>
          <a:bodyPr wrap="square" lIns="0" tIns="0" rIns="0" bIns="0" rtlCol="0" anchor="ctr"/>
          <a:lstStyle/>
          <a:p>
            <a:pPr marL="0" indent="0">
              <a:buNone/>
            </a:pPr>
            <a:r>
              <a:rPr lang="en-US" sz="4000" dirty="0">
                <a:solidFill>
                  <a:srgbClr val="F6F3EA"/>
                </a:solidFill>
                <a:latin typeface="Georgia" pitchFamily="34" charset="0"/>
                <a:ea typeface="Georgia" pitchFamily="34" charset="-122"/>
                <a:cs typeface="Georgia" pitchFamily="34" charset="-120"/>
              </a:rPr>
              <a:t>I built GroundTruth</a:t>
            </a:r>
            <a:endParaRPr lang="en-US" sz="4000" dirty="0"/>
          </a:p>
        </p:txBody>
      </p:sp>
      <p:sp>
        <p:nvSpPr>
          <p:cNvPr id="3" name="Text 1"/>
          <p:cNvSpPr txBox="1"/>
          <p:nvPr/>
        </p:nvSpPr>
        <p:spPr>
          <a:xfrm>
            <a:off x="640080" y="1463040"/>
            <a:ext cx="9601200" cy="731520"/>
          </a:xfrm>
          <a:prstGeom prst="rect">
            <a:avLst/>
          </a:prstGeom>
          <a:noFill/>
          <a:ln/>
        </p:spPr>
        <p:txBody>
          <a:bodyPr wrap="square" lIns="0" tIns="0" rIns="0" bIns="0" rtlCol="0" anchor="t"/>
          <a:lstStyle/>
          <a:p>
            <a:pPr marL="0" indent="0">
              <a:buNone/>
            </a:pPr>
            <a:r>
              <a:rPr lang="en-US" sz="1700" dirty="0">
                <a:solidFill>
                  <a:srgbClr val="DBE2CA"/>
                </a:solidFill>
                <a:latin typeface="Helvetica" pitchFamily="34" charset="0"/>
                <a:ea typeface="Helvetica" pitchFamily="34" charset="-122"/>
                <a:cs typeface="Helvetica" pitchFamily="34" charset="-120"/>
              </a:rPr>
              <a:t>The Household Food Navigator — one tool, five sections, all working from the same shared household profile.</a:t>
            </a:r>
            <a:endParaRPr lang="en-US" sz="1700" dirty="0"/>
          </a:p>
        </p:txBody>
      </p:sp>
      <p:sp>
        <p:nvSpPr>
          <p:cNvPr id="4" name="Shape 2"/>
          <p:cNvSpPr/>
          <p:nvPr/>
        </p:nvSpPr>
        <p:spPr>
          <a:xfrm>
            <a:off x="640080" y="3108960"/>
            <a:ext cx="1998878" cy="1188720"/>
          </a:xfrm>
          <a:prstGeom prst="roundRect">
            <a:avLst>
              <a:gd name="adj" fmla="val 6154"/>
            </a:avLst>
          </a:prstGeom>
          <a:solidFill>
            <a:srgbClr val="4D5C34"/>
          </a:solidFill>
          <a:ln/>
        </p:spPr>
        <p:txBody>
          <a:bodyPr/>
          <a:lstStyle/>
          <a:p>
            <a:endParaRPr lang="en-US"/>
          </a:p>
        </p:txBody>
      </p:sp>
      <p:sp>
        <p:nvSpPr>
          <p:cNvPr id="5" name="Text 3"/>
          <p:cNvSpPr txBox="1"/>
          <p:nvPr/>
        </p:nvSpPr>
        <p:spPr>
          <a:xfrm>
            <a:off x="777240" y="3108960"/>
            <a:ext cx="1724558" cy="1188720"/>
          </a:xfrm>
          <a:prstGeom prst="rect">
            <a:avLst/>
          </a:prstGeom>
          <a:noFill/>
          <a:ln/>
        </p:spPr>
        <p:txBody>
          <a:bodyPr wrap="square" lIns="0" tIns="0" rIns="0" bIns="0" rtlCol="0" anchor="ctr"/>
          <a:lstStyle/>
          <a:p>
            <a:pPr marL="0" indent="0">
              <a:buNone/>
            </a:pPr>
            <a:r>
              <a:rPr lang="en-US" sz="1500" b="1" dirty="0">
                <a:solidFill>
                  <a:srgbClr val="F6F3EA"/>
                </a:solidFill>
                <a:latin typeface="Helvetica" pitchFamily="34" charset="0"/>
                <a:ea typeface="Helvetica" pitchFamily="34" charset="-122"/>
                <a:cs typeface="Helvetica" pitchFamily="34" charset="-120"/>
              </a:rPr>
              <a:t>Calculator</a:t>
            </a:r>
            <a:endParaRPr lang="en-US" sz="1500" dirty="0"/>
          </a:p>
        </p:txBody>
      </p:sp>
      <p:sp>
        <p:nvSpPr>
          <p:cNvPr id="6" name="Shape 4"/>
          <p:cNvSpPr/>
          <p:nvPr/>
        </p:nvSpPr>
        <p:spPr>
          <a:xfrm>
            <a:off x="2867558" y="3108960"/>
            <a:ext cx="1998878" cy="1188720"/>
          </a:xfrm>
          <a:prstGeom prst="roundRect">
            <a:avLst>
              <a:gd name="adj" fmla="val 6154"/>
            </a:avLst>
          </a:prstGeom>
          <a:solidFill>
            <a:srgbClr val="4D5C34"/>
          </a:solidFill>
          <a:ln/>
        </p:spPr>
        <p:txBody>
          <a:bodyPr/>
          <a:lstStyle/>
          <a:p>
            <a:endParaRPr lang="en-US"/>
          </a:p>
        </p:txBody>
      </p:sp>
      <p:sp>
        <p:nvSpPr>
          <p:cNvPr id="7" name="Text 5"/>
          <p:cNvSpPr txBox="1"/>
          <p:nvPr/>
        </p:nvSpPr>
        <p:spPr>
          <a:xfrm>
            <a:off x="3004718" y="3108960"/>
            <a:ext cx="1724558" cy="1188720"/>
          </a:xfrm>
          <a:prstGeom prst="rect">
            <a:avLst/>
          </a:prstGeom>
          <a:noFill/>
          <a:ln/>
        </p:spPr>
        <p:txBody>
          <a:bodyPr wrap="square" lIns="0" tIns="0" rIns="0" bIns="0" rtlCol="0" anchor="ctr"/>
          <a:lstStyle/>
          <a:p>
            <a:pPr marL="0" indent="0">
              <a:buNone/>
            </a:pPr>
            <a:r>
              <a:rPr lang="en-US" sz="1500" b="1" dirty="0">
                <a:solidFill>
                  <a:srgbClr val="F6F3EA"/>
                </a:solidFill>
                <a:latin typeface="Helvetica" pitchFamily="34" charset="0"/>
                <a:ea typeface="Helvetica" pitchFamily="34" charset="-122"/>
                <a:cs typeface="Helvetica" pitchFamily="34" charset="-120"/>
              </a:rPr>
              <a:t>Finances</a:t>
            </a:r>
            <a:endParaRPr lang="en-US" sz="1500" dirty="0"/>
          </a:p>
        </p:txBody>
      </p:sp>
      <p:sp>
        <p:nvSpPr>
          <p:cNvPr id="8" name="Shape 6"/>
          <p:cNvSpPr/>
          <p:nvPr/>
        </p:nvSpPr>
        <p:spPr>
          <a:xfrm>
            <a:off x="5095037" y="3108960"/>
            <a:ext cx="1998878" cy="1188720"/>
          </a:xfrm>
          <a:prstGeom prst="roundRect">
            <a:avLst>
              <a:gd name="adj" fmla="val 6154"/>
            </a:avLst>
          </a:prstGeom>
          <a:solidFill>
            <a:srgbClr val="4D5C34"/>
          </a:solidFill>
          <a:ln/>
        </p:spPr>
        <p:txBody>
          <a:bodyPr/>
          <a:lstStyle/>
          <a:p>
            <a:endParaRPr lang="en-US"/>
          </a:p>
        </p:txBody>
      </p:sp>
      <p:sp>
        <p:nvSpPr>
          <p:cNvPr id="9" name="Text 7"/>
          <p:cNvSpPr txBox="1"/>
          <p:nvPr/>
        </p:nvSpPr>
        <p:spPr>
          <a:xfrm>
            <a:off x="5232197" y="3108960"/>
            <a:ext cx="1724558" cy="1188720"/>
          </a:xfrm>
          <a:prstGeom prst="rect">
            <a:avLst/>
          </a:prstGeom>
          <a:noFill/>
          <a:ln/>
        </p:spPr>
        <p:txBody>
          <a:bodyPr wrap="square" lIns="0" tIns="0" rIns="0" bIns="0" rtlCol="0" anchor="ctr"/>
          <a:lstStyle/>
          <a:p>
            <a:pPr marL="0" indent="0">
              <a:buNone/>
            </a:pPr>
            <a:r>
              <a:rPr lang="en-US" sz="1500" b="1" dirty="0">
                <a:solidFill>
                  <a:srgbClr val="F6F3EA"/>
                </a:solidFill>
                <a:latin typeface="Helvetica" pitchFamily="34" charset="0"/>
                <a:ea typeface="Helvetica" pitchFamily="34" charset="-122"/>
                <a:cs typeface="Helvetica" pitchFamily="34" charset="-120"/>
              </a:rPr>
              <a:t>Recipes</a:t>
            </a:r>
            <a:endParaRPr lang="en-US" sz="1500" dirty="0"/>
          </a:p>
        </p:txBody>
      </p:sp>
      <p:sp>
        <p:nvSpPr>
          <p:cNvPr id="10" name="Shape 8"/>
          <p:cNvSpPr/>
          <p:nvPr/>
        </p:nvSpPr>
        <p:spPr>
          <a:xfrm>
            <a:off x="7322515" y="3108960"/>
            <a:ext cx="1998878" cy="1188720"/>
          </a:xfrm>
          <a:prstGeom prst="roundRect">
            <a:avLst>
              <a:gd name="adj" fmla="val 6154"/>
            </a:avLst>
          </a:prstGeom>
          <a:solidFill>
            <a:srgbClr val="4D5C34"/>
          </a:solidFill>
          <a:ln/>
        </p:spPr>
        <p:txBody>
          <a:bodyPr/>
          <a:lstStyle/>
          <a:p>
            <a:endParaRPr lang="en-US"/>
          </a:p>
        </p:txBody>
      </p:sp>
      <p:sp>
        <p:nvSpPr>
          <p:cNvPr id="11" name="Text 9"/>
          <p:cNvSpPr txBox="1"/>
          <p:nvPr/>
        </p:nvSpPr>
        <p:spPr>
          <a:xfrm>
            <a:off x="7459675" y="3108960"/>
            <a:ext cx="1724558" cy="1188720"/>
          </a:xfrm>
          <a:prstGeom prst="rect">
            <a:avLst/>
          </a:prstGeom>
          <a:noFill/>
          <a:ln/>
        </p:spPr>
        <p:txBody>
          <a:bodyPr wrap="square" lIns="0" tIns="0" rIns="0" bIns="0" rtlCol="0" anchor="ctr"/>
          <a:lstStyle/>
          <a:p>
            <a:pPr marL="0" indent="0">
              <a:buNone/>
            </a:pPr>
            <a:r>
              <a:rPr lang="en-US" sz="1500" b="1" dirty="0">
                <a:solidFill>
                  <a:srgbClr val="F6F3EA"/>
                </a:solidFill>
                <a:latin typeface="Helvetica" pitchFamily="34" charset="0"/>
                <a:ea typeface="Helvetica" pitchFamily="34" charset="-122"/>
                <a:cs typeface="Helvetica" pitchFamily="34" charset="-120"/>
              </a:rPr>
              <a:t>Locator</a:t>
            </a:r>
            <a:endParaRPr lang="en-US" sz="1500" dirty="0"/>
          </a:p>
        </p:txBody>
      </p:sp>
      <p:sp>
        <p:nvSpPr>
          <p:cNvPr id="12" name="Shape 10"/>
          <p:cNvSpPr/>
          <p:nvPr/>
        </p:nvSpPr>
        <p:spPr>
          <a:xfrm>
            <a:off x="9549994" y="3108960"/>
            <a:ext cx="1998878" cy="1188720"/>
          </a:xfrm>
          <a:prstGeom prst="roundRect">
            <a:avLst>
              <a:gd name="adj" fmla="val 6154"/>
            </a:avLst>
          </a:prstGeom>
          <a:solidFill>
            <a:srgbClr val="4D5C34"/>
          </a:solidFill>
          <a:ln/>
        </p:spPr>
        <p:txBody>
          <a:bodyPr/>
          <a:lstStyle/>
          <a:p>
            <a:endParaRPr lang="en-US"/>
          </a:p>
        </p:txBody>
      </p:sp>
      <p:sp>
        <p:nvSpPr>
          <p:cNvPr id="13" name="Text 11"/>
          <p:cNvSpPr txBox="1"/>
          <p:nvPr/>
        </p:nvSpPr>
        <p:spPr>
          <a:xfrm>
            <a:off x="9687154" y="3108960"/>
            <a:ext cx="1724558" cy="1188720"/>
          </a:xfrm>
          <a:prstGeom prst="rect">
            <a:avLst/>
          </a:prstGeom>
          <a:noFill/>
          <a:ln/>
        </p:spPr>
        <p:txBody>
          <a:bodyPr wrap="square" lIns="0" tIns="0" rIns="0" bIns="0" rtlCol="0" anchor="ctr"/>
          <a:lstStyle/>
          <a:p>
            <a:pPr marL="0" indent="0">
              <a:buNone/>
            </a:pPr>
            <a:r>
              <a:rPr lang="en-US" sz="1500" b="1" dirty="0">
                <a:solidFill>
                  <a:srgbClr val="F6F3EA"/>
                </a:solidFill>
                <a:latin typeface="Helvetica" pitchFamily="34" charset="0"/>
                <a:ea typeface="Helvetica" pitchFamily="34" charset="-122"/>
                <a:cs typeface="Helvetica" pitchFamily="34" charset="-120"/>
              </a:rPr>
              <a:t>About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914400"/>
          </a:xfrm>
          <a:prstGeom prst="rect">
            <a:avLst/>
          </a:prstGeom>
          <a:noFill/>
          <a:ln/>
        </p:spPr>
        <p:txBody>
          <a:bodyPr wrap="square" lIns="0" tIns="0" rIns="0" bIns="0" rtlCol="0" anchor="ctr"/>
          <a:lstStyle/>
          <a:p>
            <a:pPr marL="0" indent="0">
              <a:buNone/>
            </a:pPr>
            <a:r>
              <a:rPr lang="en-US" sz="3400" dirty="0">
                <a:solidFill>
                  <a:srgbClr val="5B6B3A"/>
                </a:solidFill>
                <a:latin typeface="Georgia" pitchFamily="34" charset="0"/>
                <a:ea typeface="Georgia" pitchFamily="34" charset="-122"/>
                <a:cs typeface="Georgia" pitchFamily="34" charset="-120"/>
              </a:rPr>
              <a:t>From guessing to a real number</a:t>
            </a:r>
            <a:endParaRPr lang="en-US" sz="3400" dirty="0"/>
          </a:p>
        </p:txBody>
      </p:sp>
      <p:sp>
        <p:nvSpPr>
          <p:cNvPr id="3" name="Text 1"/>
          <p:cNvSpPr txBox="1"/>
          <p:nvPr/>
        </p:nvSpPr>
        <p:spPr>
          <a:xfrm>
            <a:off x="640080" y="1234440"/>
            <a:ext cx="10908792" cy="457200"/>
          </a:xfrm>
          <a:prstGeom prst="rect">
            <a:avLst/>
          </a:prstGeom>
          <a:noFill/>
          <a:ln/>
        </p:spPr>
        <p:txBody>
          <a:bodyPr wrap="square" lIns="0" tIns="0" rIns="0" bIns="0" rtlCol="0" anchor="t"/>
          <a:lstStyle/>
          <a:p>
            <a:pPr marL="0" indent="0">
              <a:buNone/>
            </a:pPr>
            <a:r>
              <a:rPr lang="en-US" sz="1400" dirty="0">
                <a:solidFill>
                  <a:srgbClr val="5C5748"/>
                </a:solidFill>
                <a:latin typeface="Helvetica" pitchFamily="34" charset="0"/>
                <a:ea typeface="Helvetica" pitchFamily="34" charset="-122"/>
                <a:cs typeface="Helvetica" pitchFamily="34" charset="-120"/>
              </a:rPr>
              <a:t>This is the boost — turning a guess into real money back in the budget.</a:t>
            </a:r>
            <a:endParaRPr lang="en-US" sz="1400" dirty="0"/>
          </a:p>
        </p:txBody>
      </p:sp>
      <p:sp>
        <p:nvSpPr>
          <p:cNvPr id="4" name="Shape 2"/>
          <p:cNvSpPr/>
          <p:nvPr/>
        </p:nvSpPr>
        <p:spPr>
          <a:xfrm>
            <a:off x="640080" y="1828800"/>
            <a:ext cx="5271516" cy="4206240"/>
          </a:xfrm>
          <a:prstGeom prst="roundRect">
            <a:avLst>
              <a:gd name="adj" fmla="val 1739"/>
            </a:avLst>
          </a:prstGeom>
          <a:solidFill>
            <a:srgbClr val="FFFFFF"/>
          </a:solidFill>
          <a:ln/>
        </p:spPr>
        <p:txBody>
          <a:bodyPr/>
          <a:lstStyle/>
          <a:p>
            <a:endParaRPr lang="en-US"/>
          </a:p>
        </p:txBody>
      </p:sp>
      <p:sp>
        <p:nvSpPr>
          <p:cNvPr id="5" name="Text 3"/>
          <p:cNvSpPr txBox="1"/>
          <p:nvPr/>
        </p:nvSpPr>
        <p:spPr>
          <a:xfrm>
            <a:off x="914400" y="2103120"/>
            <a:ext cx="4722876" cy="457200"/>
          </a:xfrm>
          <a:prstGeom prst="rect">
            <a:avLst/>
          </a:prstGeom>
          <a:noFill/>
          <a:ln/>
        </p:spPr>
        <p:txBody>
          <a:bodyPr wrap="square" lIns="0" tIns="0" rIns="0" bIns="0" rtlCol="0" anchor="ctr"/>
          <a:lstStyle/>
          <a:p>
            <a:pPr marL="0" indent="0">
              <a:buNone/>
            </a:pPr>
            <a:r>
              <a:rPr lang="en-US" sz="1800" b="1" dirty="0">
                <a:solidFill>
                  <a:srgbClr val="A4522A"/>
                </a:solidFill>
                <a:latin typeface="Helvetica" pitchFamily="34" charset="0"/>
                <a:ea typeface="Helvetica" pitchFamily="34" charset="-122"/>
                <a:cs typeface="Helvetica" pitchFamily="34" charset="-120"/>
              </a:rPr>
              <a:t>Before</a:t>
            </a:r>
            <a:endParaRPr lang="en-US" sz="1800" dirty="0"/>
          </a:p>
        </p:txBody>
      </p:sp>
      <p:sp>
        <p:nvSpPr>
          <p:cNvPr id="6" name="Text 4"/>
          <p:cNvSpPr txBox="1"/>
          <p:nvPr/>
        </p:nvSpPr>
        <p:spPr>
          <a:xfrm>
            <a:off x="914400" y="2743200"/>
            <a:ext cx="4722876" cy="3017520"/>
          </a:xfrm>
          <a:prstGeom prst="rect">
            <a:avLst/>
          </a:prstGeom>
          <a:noFill/>
          <a:ln/>
        </p:spPr>
        <p:txBody>
          <a:bodyPr wrap="square" lIns="0" tIns="0" rIns="0" bIns="0" rtlCol="0" anchor="t"/>
          <a:lstStyle/>
          <a:p>
            <a:pPr marL="342900" indent="-342900">
              <a:spcAft>
                <a:spcPts val="1400"/>
              </a:spcAft>
              <a:buSzPct val="100000"/>
              <a:buChar char="•"/>
            </a:pPr>
            <a:r>
              <a:rPr lang="en-US" sz="1400" dirty="0">
                <a:solidFill>
                  <a:srgbClr val="252520"/>
                </a:solidFill>
                <a:latin typeface="Helvetica" pitchFamily="34" charset="0"/>
                <a:ea typeface="Helvetica" pitchFamily="34" charset="-122"/>
                <a:cs typeface="Helvetica" pitchFamily="34" charset="-120"/>
              </a:rPr>
              <a:t>Pick a program based on whichever is easier to enroll in — not which is worth more.</a:t>
            </a:r>
            <a:endParaRPr lang="en-US" sz="1400" dirty="0"/>
          </a:p>
          <a:p>
            <a:pPr marL="342900" indent="-342900">
              <a:spcAft>
                <a:spcPts val="1400"/>
              </a:spcAft>
              <a:buSzPct val="100000"/>
              <a:buChar char="•"/>
            </a:pPr>
            <a:r>
              <a:rPr lang="en-US" sz="1400" dirty="0">
                <a:solidFill>
                  <a:srgbClr val="252520"/>
                </a:solidFill>
                <a:latin typeface="Helvetica" pitchFamily="34" charset="0"/>
                <a:ea typeface="Helvetica" pitchFamily="34" charset="-122"/>
                <a:cs typeface="Helvetica" pitchFamily="34" charset="-120"/>
              </a:rPr>
              <a:t>Budget off a monthly average, even when income arrives twice a year.</a:t>
            </a:r>
            <a:endParaRPr lang="en-US" sz="1400" dirty="0"/>
          </a:p>
        </p:txBody>
      </p:sp>
      <p:sp>
        <p:nvSpPr>
          <p:cNvPr id="7" name="Shape 5"/>
          <p:cNvSpPr/>
          <p:nvPr/>
        </p:nvSpPr>
        <p:spPr>
          <a:xfrm>
            <a:off x="6277356" y="1828800"/>
            <a:ext cx="5271516" cy="4206240"/>
          </a:xfrm>
          <a:prstGeom prst="roundRect">
            <a:avLst>
              <a:gd name="adj" fmla="val 1739"/>
            </a:avLst>
          </a:prstGeom>
          <a:solidFill>
            <a:srgbClr val="EEF1E6"/>
          </a:solidFill>
          <a:ln/>
        </p:spPr>
        <p:txBody>
          <a:bodyPr/>
          <a:lstStyle/>
          <a:p>
            <a:endParaRPr lang="en-US"/>
          </a:p>
        </p:txBody>
      </p:sp>
      <p:sp>
        <p:nvSpPr>
          <p:cNvPr id="8" name="Text 6"/>
          <p:cNvSpPr txBox="1"/>
          <p:nvPr/>
        </p:nvSpPr>
        <p:spPr>
          <a:xfrm>
            <a:off x="6551676" y="2103120"/>
            <a:ext cx="4722876" cy="457200"/>
          </a:xfrm>
          <a:prstGeom prst="rect">
            <a:avLst/>
          </a:prstGeom>
          <a:noFill/>
          <a:ln/>
        </p:spPr>
        <p:txBody>
          <a:bodyPr wrap="square" lIns="0" tIns="0" rIns="0" bIns="0" rtlCol="0" anchor="ctr"/>
          <a:lstStyle/>
          <a:p>
            <a:pPr marL="0" indent="0">
              <a:buNone/>
            </a:pPr>
            <a:r>
              <a:rPr lang="en-US" sz="1800" b="1" dirty="0">
                <a:solidFill>
                  <a:srgbClr val="5B6B3A"/>
                </a:solidFill>
                <a:latin typeface="Helvetica" pitchFamily="34" charset="0"/>
                <a:ea typeface="Helvetica" pitchFamily="34" charset="-122"/>
                <a:cs typeface="Helvetica" pitchFamily="34" charset="-120"/>
              </a:rPr>
              <a:t>With GroundTruth</a:t>
            </a:r>
            <a:endParaRPr lang="en-US" sz="1800" dirty="0"/>
          </a:p>
        </p:txBody>
      </p:sp>
      <p:sp>
        <p:nvSpPr>
          <p:cNvPr id="9" name="Text 7"/>
          <p:cNvSpPr txBox="1"/>
          <p:nvPr/>
        </p:nvSpPr>
        <p:spPr>
          <a:xfrm>
            <a:off x="6551676" y="2743200"/>
            <a:ext cx="4722876" cy="3017520"/>
          </a:xfrm>
          <a:prstGeom prst="rect">
            <a:avLst/>
          </a:prstGeom>
          <a:noFill/>
          <a:ln/>
        </p:spPr>
        <p:txBody>
          <a:bodyPr wrap="square" lIns="0" tIns="0" rIns="0" bIns="0" rtlCol="0" anchor="t"/>
          <a:lstStyle/>
          <a:p>
            <a:pPr marL="342900" indent="-342900">
              <a:spcAft>
                <a:spcPts val="1400"/>
              </a:spcAft>
              <a:buSzPct val="100000"/>
              <a:buChar char="•"/>
            </a:pPr>
            <a:r>
              <a:rPr lang="en-US" sz="1400" dirty="0">
                <a:solidFill>
                  <a:srgbClr val="252520"/>
                </a:solidFill>
                <a:latin typeface="Helvetica" pitchFamily="34" charset="0"/>
                <a:ea typeface="Helvetica" pitchFamily="34" charset="-122"/>
                <a:cs typeface="Helvetica" pitchFamily="34" charset="-120"/>
              </a:rPr>
              <a:t>See your FDPIR package's real dollar value, item by item, against a SNAP balance.</a:t>
            </a:r>
            <a:endParaRPr lang="en-US" sz="1400" dirty="0"/>
          </a:p>
          <a:p>
            <a:pPr marL="342900" indent="-342900">
              <a:spcAft>
                <a:spcPts val="1400"/>
              </a:spcAft>
              <a:buSzPct val="100000"/>
              <a:buChar char="•"/>
            </a:pPr>
            <a:r>
              <a:rPr lang="en-US" sz="1400" dirty="0">
                <a:solidFill>
                  <a:srgbClr val="252520"/>
                </a:solidFill>
                <a:latin typeface="Helvetica" pitchFamily="34" charset="0"/>
                <a:ea typeface="Helvetica" pitchFamily="34" charset="-122"/>
                <a:cs typeface="Helvetica" pitchFamily="34" charset="-120"/>
              </a:rPr>
              <a:t>Spread a seasonal lump sum across the months it needs to cover.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914400"/>
          </a:xfrm>
          <a:prstGeom prst="rect">
            <a:avLst/>
          </a:prstGeom>
          <a:noFill/>
          <a:ln/>
        </p:spPr>
        <p:txBody>
          <a:bodyPr wrap="square" lIns="0" tIns="0" rIns="0" bIns="0" rtlCol="0" anchor="ctr"/>
          <a:lstStyle/>
          <a:p>
            <a:pPr marL="0" indent="0">
              <a:buNone/>
            </a:pPr>
            <a:r>
              <a:rPr lang="en-US" sz="3400" dirty="0">
                <a:solidFill>
                  <a:srgbClr val="5B6B3A"/>
                </a:solidFill>
                <a:latin typeface="Georgia" pitchFamily="34" charset="0"/>
                <a:ea typeface="Georgia" pitchFamily="34" charset="-122"/>
                <a:cs typeface="Georgia" pitchFamily="34" charset="-120"/>
              </a:rPr>
              <a:t>Built on real, sourced numbers</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881360" cy="1752600"/>
        </p:xfrm>
        <a:graphic>
          <a:graphicData uri="http://schemas.openxmlformats.org/drawingml/2006/table">
            <a:tbl>
              <a:tblPr/>
              <a:tblGrid>
                <a:gridCol w="66751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5B6B3A"/>
                          </a:solidFill>
                          <a:latin typeface="Helvetica" pitchFamily="34" charset="0"/>
                          <a:ea typeface="Helvetica" pitchFamily="34" charset="-122"/>
                          <a:cs typeface="Helvetica" pitchFamily="34" charset="-120"/>
                        </a:rPr>
                        <a:t>What I cite</a:t>
                      </a:r>
                      <a:endParaRPr lang="en-US" sz="1300" dirty="0">
                        <a:latin typeface="Helvetica" charset="0"/>
                        <a:ea typeface="Helvetica" charset="0"/>
                        <a:cs typeface="Helvetica" charset="0"/>
                      </a:endParaRPr>
                    </a:p>
                  </a:txBody>
                  <a:tcPr marL="76200" marR="76200" marT="76200" marB="76200" anchor="ctr">
                    <a:lnL w="9525" cap="flat" cmpd="sng" algn="ctr">
                      <a:solidFill>
                        <a:srgbClr val="D9D2C2"/>
                      </a:solidFill>
                      <a:prstDash val="solid"/>
                      <a:round/>
                      <a:headEnd type="none" w="med" len="med"/>
                      <a:tailEnd type="none" w="med" len="med"/>
                    </a:lnL>
                    <a:lnR w="9525" cap="flat" cmpd="sng" algn="ctr">
                      <a:solidFill>
                        <a:srgbClr val="D9D2C2"/>
                      </a:solidFill>
                      <a:prstDash val="solid"/>
                      <a:round/>
                      <a:headEnd type="none" w="med" len="med"/>
                      <a:tailEnd type="none" w="med" len="med"/>
                    </a:lnR>
                    <a:lnT w="9525" cap="flat" cmpd="sng" algn="ctr">
                      <a:solidFill>
                        <a:srgbClr val="D9D2C2"/>
                      </a:solidFill>
                      <a:prstDash val="solid"/>
                      <a:round/>
                      <a:headEnd type="none" w="med" len="med"/>
                      <a:tailEnd type="none" w="med" len="med"/>
                    </a:lnT>
                    <a:lnB w="9525" cap="flat" cmpd="sng" algn="ctr">
                      <a:solidFill>
                        <a:srgbClr val="D9D2C2"/>
                      </a:solidFill>
                      <a:prstDash val="solid"/>
                      <a:round/>
                      <a:headEnd type="none" w="med" len="med"/>
                      <a:tailEnd type="none" w="med" len="med"/>
                    </a:lnB>
                    <a:solidFill>
                      <a:srgbClr val="EEF1E6"/>
                    </a:solidFill>
                  </a:tcPr>
                </a:tc>
                <a:tc>
                  <a:txBody>
                    <a:bodyPr/>
                    <a:lstStyle/>
                    <a:p>
                      <a:pPr marL="0" indent="0">
                        <a:buNone/>
                      </a:pPr>
                      <a:r>
                        <a:rPr lang="en-US" sz="1300" b="1" dirty="0">
                          <a:solidFill>
                            <a:srgbClr val="5B6B3A"/>
                          </a:solidFill>
                          <a:latin typeface="Helvetica" pitchFamily="34" charset="0"/>
                          <a:ea typeface="Helvetica" pitchFamily="34" charset="-122"/>
                          <a:cs typeface="Helvetica" pitchFamily="34" charset="-120"/>
                        </a:rPr>
                        <a:t>Source</a:t>
                      </a:r>
                      <a:endParaRPr lang="en-US" sz="1300" dirty="0">
                        <a:latin typeface="Helvetica" charset="0"/>
                        <a:ea typeface="Helvetica" charset="0"/>
                        <a:cs typeface="Helvetica" charset="0"/>
                      </a:endParaRPr>
                    </a:p>
                  </a:txBody>
                  <a:tcPr marL="76200" marR="76200" marT="76200" marB="76200" anchor="ctr">
                    <a:lnL w="9525" cap="flat" cmpd="sng" algn="ctr">
                      <a:solidFill>
                        <a:srgbClr val="D9D2C2"/>
                      </a:solidFill>
                      <a:prstDash val="solid"/>
                      <a:round/>
                      <a:headEnd type="none" w="med" len="med"/>
                      <a:tailEnd type="none" w="med" len="med"/>
                    </a:lnL>
                    <a:lnR w="9525" cap="flat" cmpd="sng" algn="ctr">
                      <a:solidFill>
                        <a:srgbClr val="D9D2C2"/>
                      </a:solidFill>
                      <a:prstDash val="solid"/>
                      <a:round/>
                      <a:headEnd type="none" w="med" len="med"/>
                      <a:tailEnd type="none" w="med" len="med"/>
                    </a:lnR>
                    <a:lnT w="9525" cap="flat" cmpd="sng" algn="ctr">
                      <a:solidFill>
                        <a:srgbClr val="D9D2C2"/>
                      </a:solidFill>
                      <a:prstDash val="solid"/>
                      <a:round/>
                      <a:headEnd type="none" w="med" len="med"/>
                      <a:tailEnd type="none" w="med" len="med"/>
                    </a:lnT>
                    <a:lnB w="9525" cap="flat" cmpd="sng" algn="ctr">
                      <a:solidFill>
                        <a:srgbClr val="D9D2C2"/>
                      </a:solidFill>
                      <a:prstDash val="solid"/>
                      <a:round/>
                      <a:headEnd type="none" w="med" len="med"/>
                      <a:tailEnd type="none" w="med" len="med"/>
                    </a:lnB>
                    <a:solidFill>
                      <a:srgbClr val="EEF1E6"/>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252520"/>
                          </a:solidFill>
                          <a:latin typeface="Helvetica" pitchFamily="34" charset="0"/>
                          <a:ea typeface="Helvetica" pitchFamily="34" charset="-122"/>
                          <a:cs typeface="Helvetica" pitchFamily="34" charset="-120"/>
                        </a:rPr>
                        <a:t>FDPIR/SNAP households are automatically eligible for free school meals</a:t>
                      </a:r>
                      <a:endParaRPr lang="en-US" sz="1300" dirty="0">
                        <a:latin typeface="Helvetica" charset="0"/>
                        <a:ea typeface="Helvetica" charset="0"/>
                        <a:cs typeface="Helvetica" charset="0"/>
                      </a:endParaRPr>
                    </a:p>
                  </a:txBody>
                  <a:tcPr marL="76200" marR="76200" marT="76200" marB="76200" anchor="ctr">
                    <a:lnL w="9525" cap="flat" cmpd="sng" algn="ctr">
                      <a:solidFill>
                        <a:srgbClr val="D9D2C2"/>
                      </a:solidFill>
                      <a:prstDash val="solid"/>
                      <a:round/>
                      <a:headEnd type="none" w="med" len="med"/>
                      <a:tailEnd type="none" w="med" len="med"/>
                    </a:lnL>
                    <a:lnR w="9525" cap="flat" cmpd="sng" algn="ctr">
                      <a:solidFill>
                        <a:srgbClr val="D9D2C2"/>
                      </a:solidFill>
                      <a:prstDash val="solid"/>
                      <a:round/>
                      <a:headEnd type="none" w="med" len="med"/>
                      <a:tailEnd type="none" w="med" len="med"/>
                    </a:lnR>
                    <a:lnT w="9525" cap="flat" cmpd="sng" algn="ctr">
                      <a:solidFill>
                        <a:srgbClr val="D9D2C2"/>
                      </a:solidFill>
                      <a:prstDash val="solid"/>
                      <a:round/>
                      <a:headEnd type="none" w="med" len="med"/>
                      <a:tailEnd type="none" w="med" len="med"/>
                    </a:lnT>
                    <a:lnB w="9525" cap="flat" cmpd="sng" algn="ctr">
                      <a:solidFill>
                        <a:srgbClr val="D9D2C2"/>
                      </a:solidFill>
                      <a:prstDash val="solid"/>
                      <a:round/>
                      <a:headEnd type="none" w="med" len="med"/>
                      <a:tailEnd type="none" w="med" len="med"/>
                    </a:lnB>
                  </a:tcPr>
                </a:tc>
                <a:tc>
                  <a:txBody>
                    <a:bodyPr/>
                    <a:lstStyle/>
                    <a:p>
                      <a:pPr marL="0" indent="0">
                        <a:buNone/>
                      </a:pPr>
                      <a:r>
                        <a:rPr lang="en-US" sz="1300" dirty="0">
                          <a:solidFill>
                            <a:srgbClr val="252520"/>
                          </a:solidFill>
                          <a:latin typeface="Helvetica" pitchFamily="34" charset="0"/>
                          <a:ea typeface="Helvetica" pitchFamily="34" charset="-122"/>
                          <a:cs typeface="Helvetica" pitchFamily="34" charset="-120"/>
                        </a:rPr>
                        <a:t>USDA FNS Policy Memo FD-045</a:t>
                      </a:r>
                      <a:endParaRPr lang="en-US" sz="1300" dirty="0">
                        <a:latin typeface="Helvetica" charset="0"/>
                        <a:ea typeface="Helvetica" charset="0"/>
                        <a:cs typeface="Helvetica" charset="0"/>
                      </a:endParaRPr>
                    </a:p>
                  </a:txBody>
                  <a:tcPr marL="76200" marR="76200" marT="76200" marB="76200" anchor="ctr">
                    <a:lnL w="9525" cap="flat" cmpd="sng" algn="ctr">
                      <a:solidFill>
                        <a:srgbClr val="D9D2C2"/>
                      </a:solidFill>
                      <a:prstDash val="solid"/>
                      <a:round/>
                      <a:headEnd type="none" w="med" len="med"/>
                      <a:tailEnd type="none" w="med" len="med"/>
                    </a:lnL>
                    <a:lnR w="9525" cap="flat" cmpd="sng" algn="ctr">
                      <a:solidFill>
                        <a:srgbClr val="D9D2C2"/>
                      </a:solidFill>
                      <a:prstDash val="solid"/>
                      <a:round/>
                      <a:headEnd type="none" w="med" len="med"/>
                      <a:tailEnd type="none" w="med" len="med"/>
                    </a:lnR>
                    <a:lnT w="9525" cap="flat" cmpd="sng" algn="ctr">
                      <a:solidFill>
                        <a:srgbClr val="D9D2C2"/>
                      </a:solidFill>
                      <a:prstDash val="solid"/>
                      <a:round/>
                      <a:headEnd type="none" w="med" len="med"/>
                      <a:tailEnd type="none" w="med" len="med"/>
                    </a:lnT>
                    <a:lnB w="9525" cap="flat" cmpd="sng" algn="ctr">
                      <a:solidFill>
                        <a:srgbClr val="D9D2C2"/>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300" dirty="0">
                          <a:solidFill>
                            <a:srgbClr val="252520"/>
                          </a:solidFill>
                          <a:latin typeface="Helvetica" pitchFamily="34" charset="0"/>
                          <a:ea typeface="Helvetica" pitchFamily="34" charset="-122"/>
                          <a:cs typeface="Helvetica" pitchFamily="34" charset="-120"/>
                        </a:rPr>
                        <a:t>2026-2027 federal income guidelines for free/reduced school meals</a:t>
                      </a:r>
                      <a:endParaRPr lang="en-US" sz="1300" dirty="0">
                        <a:latin typeface="Helvetica" charset="0"/>
                        <a:ea typeface="Helvetica" charset="0"/>
                        <a:cs typeface="Helvetica" charset="0"/>
                      </a:endParaRPr>
                    </a:p>
                  </a:txBody>
                  <a:tcPr marL="76200" marR="76200" marT="76200" marB="76200" anchor="ctr">
                    <a:lnL w="9525" cap="flat" cmpd="sng" algn="ctr">
                      <a:solidFill>
                        <a:srgbClr val="D9D2C2"/>
                      </a:solidFill>
                      <a:prstDash val="solid"/>
                      <a:round/>
                      <a:headEnd type="none" w="med" len="med"/>
                      <a:tailEnd type="none" w="med" len="med"/>
                    </a:lnL>
                    <a:lnR w="9525" cap="flat" cmpd="sng" algn="ctr">
                      <a:solidFill>
                        <a:srgbClr val="D9D2C2"/>
                      </a:solidFill>
                      <a:prstDash val="solid"/>
                      <a:round/>
                      <a:headEnd type="none" w="med" len="med"/>
                      <a:tailEnd type="none" w="med" len="med"/>
                    </a:lnR>
                    <a:lnT w="9525" cap="flat" cmpd="sng" algn="ctr">
                      <a:solidFill>
                        <a:srgbClr val="D9D2C2"/>
                      </a:solidFill>
                      <a:prstDash val="solid"/>
                      <a:round/>
                      <a:headEnd type="none" w="med" len="med"/>
                      <a:tailEnd type="none" w="med" len="med"/>
                    </a:lnT>
                    <a:lnB w="9525" cap="flat" cmpd="sng" algn="ctr">
                      <a:solidFill>
                        <a:srgbClr val="D9D2C2"/>
                      </a:solidFill>
                      <a:prstDash val="solid"/>
                      <a:round/>
                      <a:headEnd type="none" w="med" len="med"/>
                      <a:tailEnd type="none" w="med" len="med"/>
                    </a:lnB>
                  </a:tcPr>
                </a:tc>
                <a:tc>
                  <a:txBody>
                    <a:bodyPr/>
                    <a:lstStyle/>
                    <a:p>
                      <a:pPr marL="0" indent="0">
                        <a:buNone/>
                      </a:pPr>
                      <a:r>
                        <a:rPr lang="en-US" sz="1300" dirty="0">
                          <a:solidFill>
                            <a:srgbClr val="252520"/>
                          </a:solidFill>
                          <a:latin typeface="Helvetica" pitchFamily="34" charset="0"/>
                          <a:ea typeface="Helvetica" pitchFamily="34" charset="-122"/>
                          <a:cs typeface="Helvetica" pitchFamily="34" charset="-120"/>
                        </a:rPr>
                        <a:t>USDA FNS Child Nutrition Income Eligibility Guidelines</a:t>
                      </a:r>
                      <a:endParaRPr lang="en-US" sz="1300" dirty="0">
                        <a:latin typeface="Helvetica" charset="0"/>
                        <a:ea typeface="Helvetica" charset="0"/>
                        <a:cs typeface="Helvetica" charset="0"/>
                      </a:endParaRPr>
                    </a:p>
                  </a:txBody>
                  <a:tcPr marL="76200" marR="76200" marT="76200" marB="76200" anchor="ctr">
                    <a:lnL w="9525" cap="flat" cmpd="sng" algn="ctr">
                      <a:solidFill>
                        <a:srgbClr val="D9D2C2"/>
                      </a:solidFill>
                      <a:prstDash val="solid"/>
                      <a:round/>
                      <a:headEnd type="none" w="med" len="med"/>
                      <a:tailEnd type="none" w="med" len="med"/>
                    </a:lnL>
                    <a:lnR w="9525" cap="flat" cmpd="sng" algn="ctr">
                      <a:solidFill>
                        <a:srgbClr val="D9D2C2"/>
                      </a:solidFill>
                      <a:prstDash val="solid"/>
                      <a:round/>
                      <a:headEnd type="none" w="med" len="med"/>
                      <a:tailEnd type="none" w="med" len="med"/>
                    </a:lnR>
                    <a:lnT w="9525" cap="flat" cmpd="sng" algn="ctr">
                      <a:solidFill>
                        <a:srgbClr val="D9D2C2"/>
                      </a:solidFill>
                      <a:prstDash val="solid"/>
                      <a:round/>
                      <a:headEnd type="none" w="med" len="med"/>
                      <a:tailEnd type="none" w="med" len="med"/>
                    </a:lnT>
                    <a:lnB w="9525" cap="flat" cmpd="sng" algn="ctr">
                      <a:solidFill>
                        <a:srgbClr val="D9D2C2"/>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300" dirty="0">
                          <a:solidFill>
                            <a:srgbClr val="252520"/>
                          </a:solidFill>
                          <a:latin typeface="Helvetica" pitchFamily="34" charset="0"/>
                          <a:ea typeface="Helvetica" pitchFamily="34" charset="-122"/>
                          <a:cs typeface="Helvetica" pitchFamily="34" charset="-120"/>
                        </a:rPr>
                        <a:t>Oklahoma FDPIR eligibility doesn't require reservation residency</a:t>
                      </a:r>
                      <a:endParaRPr lang="en-US" sz="1300" dirty="0">
                        <a:latin typeface="Helvetica" charset="0"/>
                        <a:ea typeface="Helvetica" charset="0"/>
                        <a:cs typeface="Helvetica" charset="0"/>
                      </a:endParaRPr>
                    </a:p>
                  </a:txBody>
                  <a:tcPr marL="76200" marR="76200" marT="76200" marB="76200" anchor="ctr">
                    <a:lnL w="9525" cap="flat" cmpd="sng" algn="ctr">
                      <a:solidFill>
                        <a:srgbClr val="D9D2C2"/>
                      </a:solidFill>
                      <a:prstDash val="solid"/>
                      <a:round/>
                      <a:headEnd type="none" w="med" len="med"/>
                      <a:tailEnd type="none" w="med" len="med"/>
                    </a:lnL>
                    <a:lnR w="9525" cap="flat" cmpd="sng" algn="ctr">
                      <a:solidFill>
                        <a:srgbClr val="D9D2C2"/>
                      </a:solidFill>
                      <a:prstDash val="solid"/>
                      <a:round/>
                      <a:headEnd type="none" w="med" len="med"/>
                      <a:tailEnd type="none" w="med" len="med"/>
                    </a:lnR>
                    <a:lnT w="9525" cap="flat" cmpd="sng" algn="ctr">
                      <a:solidFill>
                        <a:srgbClr val="D9D2C2"/>
                      </a:solidFill>
                      <a:prstDash val="solid"/>
                      <a:round/>
                      <a:headEnd type="none" w="med" len="med"/>
                      <a:tailEnd type="none" w="med" len="med"/>
                    </a:lnT>
                    <a:lnB w="9525" cap="flat" cmpd="sng" algn="ctr">
                      <a:solidFill>
                        <a:srgbClr val="D9D2C2"/>
                      </a:solidFill>
                      <a:prstDash val="solid"/>
                      <a:round/>
                      <a:headEnd type="none" w="med" len="med"/>
                      <a:tailEnd type="none" w="med" len="med"/>
                    </a:lnB>
                  </a:tcPr>
                </a:tc>
                <a:tc>
                  <a:txBody>
                    <a:bodyPr/>
                    <a:lstStyle/>
                    <a:p>
                      <a:pPr marL="0" indent="0">
                        <a:buNone/>
                      </a:pPr>
                      <a:r>
                        <a:rPr lang="en-US" sz="1300" dirty="0">
                          <a:solidFill>
                            <a:srgbClr val="252520"/>
                          </a:solidFill>
                          <a:latin typeface="Helvetica" pitchFamily="34" charset="0"/>
                          <a:ea typeface="Helvetica" pitchFamily="34" charset="-122"/>
                          <a:cs typeface="Helvetica" pitchFamily="34" charset="-120"/>
                        </a:rPr>
                        <a:t>USDA FNS FDPIR Factsheet</a:t>
                      </a:r>
                      <a:endParaRPr lang="en-US" sz="1300" dirty="0">
                        <a:latin typeface="Helvetica" charset="0"/>
                        <a:ea typeface="Helvetica" charset="0"/>
                        <a:cs typeface="Helvetica" charset="0"/>
                      </a:endParaRPr>
                    </a:p>
                  </a:txBody>
                  <a:tcPr marL="76200" marR="76200" marT="76200" marB="76200" anchor="ctr">
                    <a:lnL w="9525" cap="flat" cmpd="sng" algn="ctr">
                      <a:solidFill>
                        <a:srgbClr val="D9D2C2"/>
                      </a:solidFill>
                      <a:prstDash val="solid"/>
                      <a:round/>
                      <a:headEnd type="none" w="med" len="med"/>
                      <a:tailEnd type="none" w="med" len="med"/>
                    </a:lnL>
                    <a:lnR w="9525" cap="flat" cmpd="sng" algn="ctr">
                      <a:solidFill>
                        <a:srgbClr val="D9D2C2"/>
                      </a:solidFill>
                      <a:prstDash val="solid"/>
                      <a:round/>
                      <a:headEnd type="none" w="med" len="med"/>
                      <a:tailEnd type="none" w="med" len="med"/>
                    </a:lnR>
                    <a:lnT w="9525" cap="flat" cmpd="sng" algn="ctr">
                      <a:solidFill>
                        <a:srgbClr val="D9D2C2"/>
                      </a:solidFill>
                      <a:prstDash val="solid"/>
                      <a:round/>
                      <a:headEnd type="none" w="med" len="med"/>
                      <a:tailEnd type="none" w="med" len="med"/>
                    </a:lnT>
                    <a:lnB w="9525" cap="flat" cmpd="sng" algn="ctr">
                      <a:solidFill>
                        <a:srgbClr val="D9D2C2"/>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300" dirty="0">
                          <a:solidFill>
                            <a:srgbClr val="252520"/>
                          </a:solidFill>
                          <a:latin typeface="Helvetica" pitchFamily="34" charset="0"/>
                          <a:ea typeface="Helvetica" pitchFamily="34" charset="-122"/>
                          <a:cs typeface="Helvetica" pitchFamily="34" charset="-120"/>
                        </a:rPr>
                        <a:t>Gas cost estimate used in the Locator</a:t>
                      </a:r>
                      <a:endParaRPr lang="en-US" sz="1300" dirty="0">
                        <a:latin typeface="Helvetica" charset="0"/>
                        <a:ea typeface="Helvetica" charset="0"/>
                        <a:cs typeface="Helvetica" charset="0"/>
                      </a:endParaRPr>
                    </a:p>
                  </a:txBody>
                  <a:tcPr marL="76200" marR="76200" marT="76200" marB="76200" anchor="ctr">
                    <a:lnL w="9525" cap="flat" cmpd="sng" algn="ctr">
                      <a:solidFill>
                        <a:srgbClr val="D9D2C2"/>
                      </a:solidFill>
                      <a:prstDash val="solid"/>
                      <a:round/>
                      <a:headEnd type="none" w="med" len="med"/>
                      <a:tailEnd type="none" w="med" len="med"/>
                    </a:lnL>
                    <a:lnR w="9525" cap="flat" cmpd="sng" algn="ctr">
                      <a:solidFill>
                        <a:srgbClr val="D9D2C2"/>
                      </a:solidFill>
                      <a:prstDash val="solid"/>
                      <a:round/>
                      <a:headEnd type="none" w="med" len="med"/>
                      <a:tailEnd type="none" w="med" len="med"/>
                    </a:lnR>
                    <a:lnT w="9525" cap="flat" cmpd="sng" algn="ctr">
                      <a:solidFill>
                        <a:srgbClr val="D9D2C2"/>
                      </a:solidFill>
                      <a:prstDash val="solid"/>
                      <a:round/>
                      <a:headEnd type="none" w="med" len="med"/>
                      <a:tailEnd type="none" w="med" len="med"/>
                    </a:lnT>
                    <a:lnB w="9525" cap="flat" cmpd="sng" algn="ctr">
                      <a:solidFill>
                        <a:srgbClr val="D9D2C2"/>
                      </a:solidFill>
                      <a:prstDash val="solid"/>
                      <a:round/>
                      <a:headEnd type="none" w="med" len="med"/>
                      <a:tailEnd type="none" w="med" len="med"/>
                    </a:lnB>
                  </a:tcPr>
                </a:tc>
                <a:tc>
                  <a:txBody>
                    <a:bodyPr/>
                    <a:lstStyle/>
                    <a:p>
                      <a:pPr marL="0" indent="0">
                        <a:buNone/>
                      </a:pPr>
                      <a:r>
                        <a:rPr lang="en-US" sz="1300" dirty="0">
                          <a:solidFill>
                            <a:srgbClr val="252520"/>
                          </a:solidFill>
                          <a:latin typeface="Helvetica" pitchFamily="34" charset="0"/>
                          <a:ea typeface="Helvetica" pitchFamily="34" charset="-122"/>
                          <a:cs typeface="Helvetica" pitchFamily="34" charset="-120"/>
                        </a:rPr>
                        <a:t>U.S. DOT / BTS, August 2026 national average</a:t>
                      </a:r>
                      <a:endParaRPr lang="en-US" sz="1300" dirty="0">
                        <a:latin typeface="Helvetica" charset="0"/>
                        <a:ea typeface="Helvetica" charset="0"/>
                        <a:cs typeface="Helvetica" charset="0"/>
                      </a:endParaRPr>
                    </a:p>
                  </a:txBody>
                  <a:tcPr marL="76200" marR="76200" marT="76200" marB="76200" anchor="ctr">
                    <a:lnL w="9525" cap="flat" cmpd="sng" algn="ctr">
                      <a:solidFill>
                        <a:srgbClr val="D9D2C2"/>
                      </a:solidFill>
                      <a:prstDash val="solid"/>
                      <a:round/>
                      <a:headEnd type="none" w="med" len="med"/>
                      <a:tailEnd type="none" w="med" len="med"/>
                    </a:lnL>
                    <a:lnR w="9525" cap="flat" cmpd="sng" algn="ctr">
                      <a:solidFill>
                        <a:srgbClr val="D9D2C2"/>
                      </a:solidFill>
                      <a:prstDash val="solid"/>
                      <a:round/>
                      <a:headEnd type="none" w="med" len="med"/>
                      <a:tailEnd type="none" w="med" len="med"/>
                    </a:lnR>
                    <a:lnT w="9525" cap="flat" cmpd="sng" algn="ctr">
                      <a:solidFill>
                        <a:srgbClr val="D9D2C2"/>
                      </a:solidFill>
                      <a:prstDash val="solid"/>
                      <a:round/>
                      <a:headEnd type="none" w="med" len="med"/>
                      <a:tailEnd type="none" w="med" len="med"/>
                    </a:lnT>
                    <a:lnB w="9525" cap="flat" cmpd="sng" algn="ctr">
                      <a:solidFill>
                        <a:srgbClr val="D9D2C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5B6B3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914400"/>
          </a:xfrm>
          <a:prstGeom prst="rect">
            <a:avLst/>
          </a:prstGeom>
          <a:noFill/>
          <a:ln/>
        </p:spPr>
        <p:txBody>
          <a:bodyPr wrap="square" lIns="0" tIns="0" rIns="0" bIns="0" rtlCol="0" anchor="ctr"/>
          <a:lstStyle/>
          <a:p>
            <a:pPr marL="0" indent="0">
              <a:buNone/>
            </a:pPr>
            <a:r>
              <a:rPr lang="en-US" sz="3800" dirty="0">
                <a:solidFill>
                  <a:srgbClr val="F6F3EA"/>
                </a:solidFill>
                <a:latin typeface="Georgia" pitchFamily="34" charset="0"/>
                <a:ea typeface="Georgia" pitchFamily="34" charset="-122"/>
                <a:cs typeface="Georgia" pitchFamily="34" charset="-120"/>
              </a:rPr>
              <a:t>Now live as a website</a:t>
            </a:r>
            <a:endParaRPr lang="en-US" sz="3800" dirty="0"/>
          </a:p>
        </p:txBody>
      </p:sp>
      <p:sp>
        <p:nvSpPr>
          <p:cNvPr id="3" name="Text 1"/>
          <p:cNvSpPr txBox="1"/>
          <p:nvPr/>
        </p:nvSpPr>
        <p:spPr>
          <a:xfrm>
            <a:off x="640080" y="1645920"/>
            <a:ext cx="9875520" cy="1188720"/>
          </a:xfrm>
          <a:prstGeom prst="rect">
            <a:avLst/>
          </a:prstGeom>
          <a:noFill/>
          <a:ln/>
        </p:spPr>
        <p:txBody>
          <a:bodyPr wrap="square" lIns="0" tIns="0" rIns="0" bIns="0" rtlCol="0" anchor="t"/>
          <a:lstStyle/>
          <a:p>
            <a:pPr marL="0" indent="0">
              <a:buNone/>
            </a:pPr>
            <a:r>
              <a:rPr lang="en-US" sz="1700" dirty="0">
                <a:solidFill>
                  <a:srgbClr val="DBE2CA"/>
                </a:solidFill>
                <a:latin typeface="Helvetica" pitchFamily="34" charset="0"/>
                <a:ea typeface="Helvetica" pitchFamily="34" charset="-122"/>
                <a:cs typeface="Helvetica" pitchFamily="34" charset="-120"/>
              </a:rPr>
              <a:t>This was the plan from day one — a website anyone can open on a phone or computer, no install, no account. </a:t>
            </a:r>
            <a:endParaRPr lang="en-US" sz="1700" dirty="0"/>
          </a:p>
        </p:txBody>
      </p:sp>
      <p:sp>
        <p:nvSpPr>
          <p:cNvPr id="4" name="Text 2"/>
          <p:cNvSpPr txBox="1"/>
          <p:nvPr/>
        </p:nvSpPr>
        <p:spPr>
          <a:xfrm>
            <a:off x="640080" y="3291840"/>
            <a:ext cx="9875520" cy="1005840"/>
          </a:xfrm>
          <a:prstGeom prst="rect">
            <a:avLst/>
          </a:prstGeom>
          <a:noFill/>
          <a:ln/>
        </p:spPr>
        <p:txBody>
          <a:bodyPr wrap="square" lIns="0" tIns="0" rIns="0" bIns="0" rtlCol="0" anchor="t"/>
          <a:lstStyle/>
          <a:p>
            <a:pPr marL="0" indent="0">
              <a:buNone/>
            </a:pPr>
            <a:r>
              <a:rPr lang="en-US" sz="1700" dirty="0">
                <a:solidFill>
                  <a:srgbClr val="DBE2CA"/>
                </a:solidFill>
                <a:latin typeface="Helvetica" pitchFamily="34" charset="0"/>
                <a:ea typeface="Helvetica" pitchFamily="34" charset="-122"/>
                <a:cs typeface="Helvetica" pitchFamily="34" charset="-120"/>
              </a:rPr>
              <a:t>Works on a phone in a parking lot outside a distribution site. Nothing is saved anywhere unless you choose to save it.</a:t>
            </a:r>
            <a:endParaRPr lang="en-US" sz="1700" dirty="0"/>
          </a:p>
        </p:txBody>
      </p:sp>
      <p:sp>
        <p:nvSpPr>
          <p:cNvPr id="5" name="Text 3"/>
          <p:cNvSpPr txBox="1"/>
          <p:nvPr/>
        </p:nvSpPr>
        <p:spPr>
          <a:xfrm>
            <a:off x="640080" y="4846320"/>
            <a:ext cx="7315200" cy="457200"/>
          </a:xfrm>
          <a:prstGeom prst="rect">
            <a:avLst/>
          </a:prstGeom>
          <a:noFill/>
          <a:ln/>
        </p:spPr>
        <p:txBody>
          <a:bodyPr wrap="square" lIns="0" tIns="0" rIns="0" bIns="0" rtlCol="0" anchor="t"/>
          <a:lstStyle/>
          <a:p>
            <a:pPr marL="0" indent="0">
              <a:buNone/>
            </a:pP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908792" cy="914400"/>
          </a:xfrm>
          <a:prstGeom prst="rect">
            <a:avLst/>
          </a:prstGeom>
          <a:noFill/>
          <a:ln/>
        </p:spPr>
        <p:txBody>
          <a:bodyPr wrap="square" lIns="0" tIns="0" rIns="0" bIns="0" rtlCol="0" anchor="ctr"/>
          <a:lstStyle/>
          <a:p>
            <a:pPr marL="0" indent="0">
              <a:buNone/>
            </a:pPr>
            <a:r>
              <a:rPr lang="en-US" sz="3400" dirty="0">
                <a:solidFill>
                  <a:srgbClr val="5B6B3A"/>
                </a:solidFill>
                <a:latin typeface="Georgia" pitchFamily="34" charset="0"/>
                <a:ea typeface="Georgia" pitchFamily="34" charset="-122"/>
                <a:cs typeface="Georgia" pitchFamily="34" charset="-120"/>
              </a:rPr>
              <a:t>But signal isn't guaranteed</a:t>
            </a:r>
            <a:endParaRPr lang="en-US" sz="3400" dirty="0"/>
          </a:p>
        </p:txBody>
      </p:sp>
      <p:sp>
        <p:nvSpPr>
          <p:cNvPr id="3" name="Text 1"/>
          <p:cNvSpPr txBox="1"/>
          <p:nvPr/>
        </p:nvSpPr>
        <p:spPr>
          <a:xfrm>
            <a:off x="640080" y="1371600"/>
            <a:ext cx="10908792" cy="1005840"/>
          </a:xfrm>
          <a:prstGeom prst="rect">
            <a:avLst/>
          </a:prstGeom>
          <a:noFill/>
          <a:ln/>
        </p:spPr>
        <p:txBody>
          <a:bodyPr wrap="square" lIns="0" tIns="0" rIns="0" bIns="0" rtlCol="0" anchor="t"/>
          <a:lstStyle/>
          <a:p>
            <a:pPr marL="0" indent="0">
              <a:buNone/>
            </a:pPr>
            <a:r>
              <a:rPr lang="en-US" sz="1700" dirty="0">
                <a:solidFill>
                  <a:srgbClr val="252520"/>
                </a:solidFill>
                <a:latin typeface="Helvetica" pitchFamily="34" charset="0"/>
                <a:ea typeface="Helvetica" pitchFamily="34" charset="-122"/>
                <a:cs typeface="Helvetica" pitchFamily="34" charset="-120"/>
              </a:rPr>
              <a:t>Reservation and rural connectivity can be unreliable exactly where this matters most — so I also built the option of a fully offline desktop version, in Python. Same data, same calculations, zero internet required, ever.</a:t>
            </a:r>
            <a:endParaRPr lang="en-US" sz="1700" dirty="0"/>
          </a:p>
        </p:txBody>
      </p:sp>
      <p:sp>
        <p:nvSpPr>
          <p:cNvPr id="4" name="Shape 2"/>
          <p:cNvSpPr/>
          <p:nvPr/>
        </p:nvSpPr>
        <p:spPr>
          <a:xfrm>
            <a:off x="640080" y="2651760"/>
            <a:ext cx="5271516" cy="1554480"/>
          </a:xfrm>
          <a:prstGeom prst="roundRect">
            <a:avLst>
              <a:gd name="adj" fmla="val 4706"/>
            </a:avLst>
          </a:prstGeom>
          <a:solidFill>
            <a:srgbClr val="FFFFFF"/>
          </a:solidFill>
          <a:ln/>
        </p:spPr>
        <p:txBody>
          <a:bodyPr/>
          <a:lstStyle/>
          <a:p>
            <a:endParaRPr lang="en-US"/>
          </a:p>
        </p:txBody>
      </p:sp>
      <p:sp>
        <p:nvSpPr>
          <p:cNvPr id="5" name="Text 3"/>
          <p:cNvSpPr txBox="1"/>
          <p:nvPr/>
        </p:nvSpPr>
        <p:spPr>
          <a:xfrm>
            <a:off x="914400" y="2880360"/>
            <a:ext cx="4722876" cy="457200"/>
          </a:xfrm>
          <a:prstGeom prst="rect">
            <a:avLst/>
          </a:prstGeom>
          <a:noFill/>
          <a:ln/>
        </p:spPr>
        <p:txBody>
          <a:bodyPr wrap="square" lIns="0" tIns="0" rIns="0" bIns="0" rtlCol="0" anchor="ctr"/>
          <a:lstStyle/>
          <a:p>
            <a:pPr marL="0" indent="0">
              <a:buNone/>
            </a:pPr>
            <a:r>
              <a:rPr lang="en-US" sz="1700" b="1" dirty="0">
                <a:solidFill>
                  <a:srgbClr val="5B6B3A"/>
                </a:solidFill>
                <a:latin typeface="Helvetica" pitchFamily="34" charset="0"/>
                <a:ea typeface="Helvetica" pitchFamily="34" charset="-122"/>
                <a:cs typeface="Helvetica" pitchFamily="34" charset="-120"/>
              </a:rPr>
              <a:t>Website</a:t>
            </a:r>
            <a:endParaRPr lang="en-US" sz="1700" dirty="0"/>
          </a:p>
        </p:txBody>
      </p:sp>
      <p:sp>
        <p:nvSpPr>
          <p:cNvPr id="6" name="Text 4"/>
          <p:cNvSpPr txBox="1"/>
          <p:nvPr/>
        </p:nvSpPr>
        <p:spPr>
          <a:xfrm>
            <a:off x="914400" y="3429000"/>
            <a:ext cx="4722876" cy="640080"/>
          </a:xfrm>
          <a:prstGeom prst="rect">
            <a:avLst/>
          </a:prstGeom>
          <a:noFill/>
          <a:ln/>
        </p:spPr>
        <p:txBody>
          <a:bodyPr wrap="square" lIns="0" tIns="0" rIns="0" bIns="0" rtlCol="0" anchor="t"/>
          <a:lstStyle/>
          <a:p>
            <a:pPr marL="0" indent="0">
              <a:buNone/>
            </a:pPr>
            <a:r>
              <a:rPr lang="en-US" sz="1400" dirty="0">
                <a:solidFill>
                  <a:srgbClr val="5C5748"/>
                </a:solidFill>
                <a:latin typeface="Helvetica" pitchFamily="34" charset="0"/>
                <a:ea typeface="Helvetica" pitchFamily="34" charset="-122"/>
                <a:cs typeface="Helvetica" pitchFamily="34" charset="-120"/>
              </a:rPr>
              <a:t>Reach — works on any phone or computer with a connection.</a:t>
            </a:r>
            <a:endParaRPr lang="en-US" sz="1400" dirty="0"/>
          </a:p>
        </p:txBody>
      </p:sp>
      <p:sp>
        <p:nvSpPr>
          <p:cNvPr id="7" name="Shape 5"/>
          <p:cNvSpPr/>
          <p:nvPr/>
        </p:nvSpPr>
        <p:spPr>
          <a:xfrm>
            <a:off x="6277356" y="2651760"/>
            <a:ext cx="5271516" cy="1554480"/>
          </a:xfrm>
          <a:prstGeom prst="roundRect">
            <a:avLst>
              <a:gd name="adj" fmla="val 4706"/>
            </a:avLst>
          </a:prstGeom>
          <a:solidFill>
            <a:srgbClr val="FFFFFF"/>
          </a:solidFill>
          <a:ln/>
        </p:spPr>
        <p:txBody>
          <a:bodyPr/>
          <a:lstStyle/>
          <a:p>
            <a:endParaRPr lang="en-US"/>
          </a:p>
        </p:txBody>
      </p:sp>
      <p:sp>
        <p:nvSpPr>
          <p:cNvPr id="8" name="Text 6"/>
          <p:cNvSpPr txBox="1"/>
          <p:nvPr/>
        </p:nvSpPr>
        <p:spPr>
          <a:xfrm>
            <a:off x="6551676" y="2880360"/>
            <a:ext cx="4722876" cy="457200"/>
          </a:xfrm>
          <a:prstGeom prst="rect">
            <a:avLst/>
          </a:prstGeom>
          <a:noFill/>
          <a:ln/>
        </p:spPr>
        <p:txBody>
          <a:bodyPr wrap="square" lIns="0" tIns="0" rIns="0" bIns="0" rtlCol="0" anchor="ctr"/>
          <a:lstStyle/>
          <a:p>
            <a:pPr marL="0" indent="0">
              <a:buNone/>
            </a:pPr>
            <a:r>
              <a:rPr lang="en-US" sz="1700" b="1" dirty="0">
                <a:solidFill>
                  <a:srgbClr val="5B6B3A"/>
                </a:solidFill>
                <a:latin typeface="Helvetica" pitchFamily="34" charset="0"/>
                <a:ea typeface="Helvetica" pitchFamily="34" charset="-122"/>
                <a:cs typeface="Helvetica" pitchFamily="34" charset="-120"/>
              </a:rPr>
              <a:t>Desktop app</a:t>
            </a:r>
            <a:endParaRPr lang="en-US" sz="1700" dirty="0"/>
          </a:p>
        </p:txBody>
      </p:sp>
      <p:sp>
        <p:nvSpPr>
          <p:cNvPr id="9" name="Text 7"/>
          <p:cNvSpPr txBox="1"/>
          <p:nvPr/>
        </p:nvSpPr>
        <p:spPr>
          <a:xfrm>
            <a:off x="6551676" y="3429000"/>
            <a:ext cx="4722876" cy="640080"/>
          </a:xfrm>
          <a:prstGeom prst="rect">
            <a:avLst/>
          </a:prstGeom>
          <a:noFill/>
          <a:ln/>
        </p:spPr>
        <p:txBody>
          <a:bodyPr wrap="square" lIns="0" tIns="0" rIns="0" bIns="0" rtlCol="0" anchor="t"/>
          <a:lstStyle/>
          <a:p>
            <a:pPr marL="0" indent="0">
              <a:buNone/>
            </a:pPr>
            <a:r>
              <a:rPr lang="en-US" sz="1400" dirty="0">
                <a:solidFill>
                  <a:srgbClr val="5C5748"/>
                </a:solidFill>
                <a:latin typeface="Helvetica" pitchFamily="34" charset="0"/>
                <a:ea typeface="Helvetica" pitchFamily="34" charset="-122"/>
                <a:cs typeface="Helvetica" pitchFamily="34" charset="-120"/>
              </a:rPr>
              <a:t>Reliability — works completely offline, every time.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3F4A28"/>
        </a:solidFill>
        <a:effectLst/>
      </p:bgPr>
    </p:bg>
    <p:spTree>
      <p:nvGrpSpPr>
        <p:cNvPr id="1" name=""/>
        <p:cNvGrpSpPr/>
        <p:nvPr/>
      </p:nvGrpSpPr>
      <p:grpSpPr>
        <a:xfrm>
          <a:off x="0" y="0"/>
          <a:ext cx="0" cy="0"/>
          <a:chOff x="0" y="0"/>
          <a:chExt cx="0" cy="0"/>
        </a:xfrm>
      </p:grpSpPr>
      <p:sp>
        <p:nvSpPr>
          <p:cNvPr id="2" name="Text 0"/>
          <p:cNvSpPr txBox="1"/>
          <p:nvPr/>
        </p:nvSpPr>
        <p:spPr>
          <a:xfrm>
            <a:off x="640080" y="2103120"/>
            <a:ext cx="10058400" cy="1828800"/>
          </a:xfrm>
          <a:prstGeom prst="rect">
            <a:avLst/>
          </a:prstGeom>
          <a:noFill/>
          <a:ln/>
        </p:spPr>
        <p:txBody>
          <a:bodyPr wrap="square" lIns="0" tIns="0" rIns="0" bIns="0" rtlCol="0" anchor="ctr"/>
          <a:lstStyle/>
          <a:p>
            <a:pPr marL="0" indent="0">
              <a:buNone/>
            </a:pPr>
            <a:r>
              <a:rPr lang="en-US" sz="5400" dirty="0">
                <a:solidFill>
                  <a:srgbClr val="F6F3EA"/>
                </a:solidFill>
                <a:latin typeface="Georgia" pitchFamily="34" charset="0"/>
                <a:ea typeface="Georgia" pitchFamily="34" charset="-122"/>
                <a:cs typeface="Georgia" pitchFamily="34" charset="-120"/>
              </a:rPr>
              <a:t>Try it. </a:t>
            </a:r>
          </a:p>
          <a:p>
            <a:pPr marL="0" indent="0">
              <a:buNone/>
            </a:pPr>
            <a:r>
              <a:rPr lang="en-US" sz="5400" dirty="0">
                <a:solidFill>
                  <a:srgbClr val="F6F3EA"/>
                </a:solidFill>
                <a:latin typeface="Georgia" pitchFamily="34" charset="0"/>
                <a:ea typeface="Georgia" pitchFamily="34" charset="-122"/>
                <a:cs typeface="Georgia" pitchFamily="34" charset="-120"/>
              </a:rPr>
              <a:t>Tell me what's missing.</a:t>
            </a:r>
            <a:endParaRPr lang="en-US" sz="5400" dirty="0"/>
          </a:p>
        </p:txBody>
      </p:sp>
      <p:sp>
        <p:nvSpPr>
          <p:cNvPr id="3" name="Text 1"/>
          <p:cNvSpPr txBox="1"/>
          <p:nvPr/>
        </p:nvSpPr>
        <p:spPr>
          <a:xfrm>
            <a:off x="640080" y="4297680"/>
            <a:ext cx="9144000" cy="457200"/>
          </a:xfrm>
          <a:prstGeom prst="rect">
            <a:avLst/>
          </a:prstGeom>
          <a:noFill/>
          <a:ln/>
        </p:spPr>
        <p:txBody>
          <a:bodyPr wrap="square" lIns="0" tIns="0" rIns="0" bIns="0" rtlCol="0" anchor="t"/>
          <a:lstStyle/>
          <a:p>
            <a:pPr marL="0" indent="0">
              <a:buNone/>
            </a:pP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515</TotalTime>
  <Words>1520</Words>
  <Application>Microsoft Office PowerPoint</Application>
  <PresentationFormat>Widescreen</PresentationFormat>
  <Paragraphs>100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Georgia</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GroundTruth — the Household Food Navigator</dc:title>
  <dc:subject>PptxGenJS Presentation</dc:subject>
  <dc:creator>Full Table</dc:creator>
  <cp:lastModifiedBy>Nguyen, Viet</cp:lastModifiedBy>
  <cp:revision>2</cp:revision>
  <dcterms:created xsi:type="dcterms:W3CDTF">2026-09-20T21:01:27Z</dcterms:created>
  <dcterms:modified xsi:type="dcterms:W3CDTF">2026-09-21T05:38:52Z</dcterms:modified>
</cp:coreProperties>
</file>